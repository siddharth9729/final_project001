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histogram maps out the baseline toxicity of the 3,000 regions. The X-axis shows the Lead Concentration (grouped into 30 bins), and the Y-axis shows the count of regions. The Key Insight: A massive portion of the dataset falls entirely to the right of the 10 µg/L mark. This proves that the majority of regions in our data consistently exceed the World Health Organization's safe limit for lead in water. The baseline is highly toxic.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scatter plot tests the direct mathematical correlation between our two primary variables. The X-axis measures Lead Concentration, while the Y-axis tracks the Infant Mortality Rate. The Key Insight: We expected a sharp upward trendline (more lead = higher mortality). Instead, the AI-generated trendline is completely flat and horizontal. This reveals a data science paradox: Lead concentration alone does not dictate the infant mortality rate when looking at the global macro-level. There must be a hidden variable.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combination chart tracks our metrics over the full 24-year timeline (2000–2024). The blue bars represent the average Lead Concentration, and the dark blue line represents the Infant Mortality Rate. The Key Insight: Notice how the blue bars remain stubbornly flat right around the 10 µg/L mark for the entire two decades. The water never got cleaner. However, the mortality line fluctuates wildly and eventually drops at the end of the timeline. Something else is saving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final dual-line chart introduces our missing variable: The Healthcare Access Index. The X-axis is the timeline, while the two lines track average Healthcare Access and average Infant Mortality. The Key Insight: Look at the massive “X” shape formed by the mathematical trendlines. This is a classic Strong Inverse Correlation. Over 24 years, as global access to hospitals and medicine powerfully climbed upward, the infant mortality rate aggressively dropped downward.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for questions regarding the Python code, data cleaning process, or Power BI dashboard construction.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4A57"/>
        </a:solidFill>
      </p:bgPr>
    </p:bg>
    <p:spTree>
      <p:nvGrpSpPr>
        <p:cNvPr id="1" name=""/>
        <p:cNvGrpSpPr/>
        <p:nvPr/>
      </p:nvGrpSpPr>
      <p:grpSpPr>
        <a:xfrm>
          <a:off x="0" y="0"/>
          <a:ext cx="0" cy="0"/>
          <a:chOff x="0" y="0"/>
          <a:chExt cx="0" cy="0"/>
        </a:xfrm>
      </p:grpSpPr>
      <p:sp>
        <p:nvSpPr>
          <p:cNvPr id="2" name="Text 0"/>
          <p:cNvSpPr/>
          <p:nvPr/>
        </p:nvSpPr>
        <p:spPr>
          <a:xfrm>
            <a:off x="1051560" y="2057400"/>
            <a:ext cx="10058400" cy="1554480"/>
          </a:xfrm>
          <a:prstGeom prst="rect">
            <a:avLst/>
          </a:prstGeom>
          <a:noFill/>
          <a:ln/>
        </p:spPr>
        <p:txBody>
          <a:bodyPr wrap="square" lIns="0" tIns="0" rIns="0" bIns="0" rtlCol="0" anchor="t"/>
          <a:lstStyle/>
          <a:p>
            <a:pPr algn="ctr" indent="0" marL="0">
              <a:lnSpc>
                <a:spcPct val="108000"/>
              </a:lnSpc>
              <a:buNone/>
            </a:pPr>
            <a:r>
              <a:rPr lang="en-US" sz="3800" b="1" dirty="0">
                <a:solidFill>
                  <a:srgbClr val="FFFFFF"/>
                </a:solidFill>
                <a:latin typeface="Cambria" pitchFamily="34" charset="0"/>
                <a:ea typeface="Cambria" pitchFamily="34" charset="-122"/>
                <a:cs typeface="Cambria" pitchFamily="34" charset="-120"/>
              </a:rPr>
              <a:t>Uncovering the Hidden Drivers of</a:t>
            </a:r>
            <a:endParaRPr lang="en-US" sz="3800" dirty="0"/>
          </a:p>
          <a:p>
            <a:pPr algn="ctr" indent="0" marL="0">
              <a:lnSpc>
                <a:spcPct val="108000"/>
              </a:lnSpc>
              <a:buNone/>
            </a:pPr>
            <a:r>
              <a:rPr lang="en-US" sz="3800" b="1" dirty="0">
                <a:solidFill>
                  <a:srgbClr val="FFFFFF"/>
                </a:solidFill>
                <a:latin typeface="Cambria" pitchFamily="34" charset="0"/>
                <a:ea typeface="Cambria" pitchFamily="34" charset="-122"/>
                <a:cs typeface="Cambria" pitchFamily="34" charset="-120"/>
              </a:rPr>
              <a:t>Global Infant Mortality</a:t>
            </a:r>
            <a:endParaRPr lang="en-US" sz="3800" dirty="0"/>
          </a:p>
        </p:txBody>
      </p:sp>
      <p:sp>
        <p:nvSpPr>
          <p:cNvPr id="3" name="Text 1"/>
          <p:cNvSpPr/>
          <p:nvPr/>
        </p:nvSpPr>
        <p:spPr>
          <a:xfrm>
            <a:off x="1508760" y="3611880"/>
            <a:ext cx="9144000" cy="548640"/>
          </a:xfrm>
          <a:prstGeom prst="rect">
            <a:avLst/>
          </a:prstGeom>
          <a:noFill/>
          <a:ln/>
        </p:spPr>
        <p:txBody>
          <a:bodyPr wrap="square" lIns="0" tIns="0" rIns="0" bIns="0" rtlCol="0" anchor="t"/>
          <a:lstStyle/>
          <a:p>
            <a:pPr algn="ctr" indent="0" marL="0">
              <a:buNone/>
            </a:pPr>
            <a:r>
              <a:rPr lang="en-US" sz="1800" i="1" dirty="0">
                <a:solidFill>
                  <a:srgbClr val="E8C468"/>
                </a:solidFill>
                <a:latin typeface="Cambria" pitchFamily="34" charset="0"/>
                <a:ea typeface="Cambria" pitchFamily="34" charset="-122"/>
                <a:cs typeface="Cambria" pitchFamily="34" charset="-120"/>
              </a:rPr>
              <a:t>A Data-Driven Analysis of Water Pollution vs. Healthcare Access</a:t>
            </a:r>
            <a:endParaRPr lang="en-US" sz="1800" dirty="0"/>
          </a:p>
        </p:txBody>
      </p:sp>
      <p:sp>
        <p:nvSpPr>
          <p:cNvPr id="4" name="Shape 2"/>
          <p:cNvSpPr/>
          <p:nvPr/>
        </p:nvSpPr>
        <p:spPr>
          <a:xfrm>
            <a:off x="5596128" y="4343400"/>
            <a:ext cx="128016" cy="128016"/>
          </a:xfrm>
          <a:prstGeom prst="ellipse">
            <a:avLst/>
          </a:prstGeom>
          <a:solidFill>
            <a:srgbClr val="A83232"/>
          </a:solidFill>
          <a:ln/>
        </p:spPr>
      </p:sp>
      <p:sp>
        <p:nvSpPr>
          <p:cNvPr id="5" name="Shape 3"/>
          <p:cNvSpPr/>
          <p:nvPr/>
        </p:nvSpPr>
        <p:spPr>
          <a:xfrm>
            <a:off x="6016752" y="4343400"/>
            <a:ext cx="128016" cy="128016"/>
          </a:xfrm>
          <a:prstGeom prst="ellipse">
            <a:avLst/>
          </a:prstGeom>
          <a:solidFill>
            <a:srgbClr val="0E7C86"/>
          </a:solidFill>
          <a:ln/>
        </p:spPr>
      </p:sp>
      <p:sp>
        <p:nvSpPr>
          <p:cNvPr id="6" name="Shape 4"/>
          <p:cNvSpPr/>
          <p:nvPr/>
        </p:nvSpPr>
        <p:spPr>
          <a:xfrm>
            <a:off x="6437376" y="4343400"/>
            <a:ext cx="128016" cy="128016"/>
          </a:xfrm>
          <a:prstGeom prst="ellipse">
            <a:avLst/>
          </a:prstGeom>
          <a:solidFill>
            <a:srgbClr val="1E8449"/>
          </a:solidFill>
          <a:ln/>
        </p:spPr>
      </p:sp>
      <p:sp>
        <p:nvSpPr>
          <p:cNvPr id="7" name="Text 5"/>
          <p:cNvSpPr/>
          <p:nvPr/>
        </p:nvSpPr>
        <p:spPr>
          <a:xfrm>
            <a:off x="1051560" y="5852160"/>
            <a:ext cx="10058400" cy="365760"/>
          </a:xfrm>
          <a:prstGeom prst="rect">
            <a:avLst/>
          </a:prstGeom>
          <a:noFill/>
          <a:ln/>
        </p:spPr>
        <p:txBody>
          <a:bodyPr wrap="square" lIns="0" tIns="0" rIns="0" bIns="0" rtlCol="0" anchor="t"/>
          <a:lstStyle/>
          <a:p>
            <a:pPr algn="ctr" indent="0" marL="0">
              <a:buNone/>
            </a:pPr>
            <a:r>
              <a:rPr lang="en-US" sz="1300" dirty="0">
                <a:solidFill>
                  <a:srgbClr val="AFCBD1"/>
                </a:solidFill>
                <a:latin typeface="Calibri" pitchFamily="34" charset="0"/>
                <a:ea typeface="Calibri" pitchFamily="34" charset="-122"/>
                <a:cs typeface="Calibri" pitchFamily="34" charset="-120"/>
              </a:rPr>
              <a:t>Siddharth Singh  |  Computer Science (Data Science &amp; Machine Learning)  |  CGC University, Mohali</a:t>
            </a:r>
            <a:endParaRPr lang="en-US" sz="1300" dirty="0"/>
          </a:p>
        </p:txBody>
      </p:sp>
      <p:sp>
        <p:nvSpPr>
          <p:cNvPr id="8" name="Text 6"/>
          <p:cNvSpPr/>
          <p:nvPr/>
        </p:nvSpPr>
        <p:spPr>
          <a:xfrm>
            <a:off x="10698480" y="6355080"/>
            <a:ext cx="914400" cy="274320"/>
          </a:xfrm>
          <a:prstGeom prst="rect">
            <a:avLst/>
          </a:prstGeom>
          <a:noFill/>
          <a:ln/>
        </p:spPr>
        <p:txBody>
          <a:bodyPr wrap="square" lIns="0" tIns="0" rIns="0" bIns="0" rtlCol="0" anchor="ctr"/>
          <a:lstStyle/>
          <a:p>
            <a:pPr algn="r" indent="0" marL="0">
              <a:buNone/>
            </a:pPr>
            <a:r>
              <a:rPr lang="en-US" sz="1000" dirty="0">
                <a:solidFill>
                  <a:srgbClr val="AFCBD1"/>
                </a:solidFill>
                <a:latin typeface="Calibri" pitchFamily="34" charset="0"/>
                <a:ea typeface="Calibri" pitchFamily="34" charset="-122"/>
                <a:cs typeface="Calibri" pitchFamily="34" charset="-120"/>
              </a:rPr>
              <a:t>01 / 11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685800"/>
            <a:ext cx="10789920" cy="822960"/>
          </a:xfrm>
          <a:prstGeom prst="rect">
            <a:avLst/>
          </a:prstGeom>
          <a:noFill/>
          <a:ln/>
        </p:spPr>
        <p:txBody>
          <a:bodyPr wrap="square" lIns="0" tIns="0" rIns="0" bIns="0" rtlCol="0" anchor="t"/>
          <a:lstStyle/>
          <a:p>
            <a:pPr algn="l" indent="0" marL="0">
              <a:buNone/>
            </a:pPr>
            <a:r>
              <a:rPr lang="en-US" sz="3200" b="1" dirty="0">
                <a:solidFill>
                  <a:srgbClr val="1B1B1B"/>
                </a:solidFill>
                <a:latin typeface="Cambria" pitchFamily="34" charset="0"/>
                <a:ea typeface="Cambria" pitchFamily="34" charset="-122"/>
                <a:cs typeface="Cambria" pitchFamily="34" charset="-120"/>
              </a:rPr>
              <a:t>The Core Problem</a:t>
            </a:r>
            <a:endParaRPr lang="en-US" sz="3200" dirty="0"/>
          </a:p>
        </p:txBody>
      </p:sp>
      <p:sp>
        <p:nvSpPr>
          <p:cNvPr id="3" name="Shape 1"/>
          <p:cNvSpPr/>
          <p:nvPr/>
        </p:nvSpPr>
        <p:spPr>
          <a:xfrm>
            <a:off x="685800" y="1828800"/>
            <a:ext cx="10789920" cy="1325880"/>
          </a:xfrm>
          <a:prstGeom prst="roundRect">
            <a:avLst>
              <a:gd name="adj" fmla="val 6207"/>
            </a:avLst>
          </a:prstGeom>
          <a:solidFill>
            <a:srgbClr val="FBE9E8"/>
          </a:solidFill>
          <a:ln/>
          <a:effectLst>
            <a:outerShdw sx="100000" sy="100000" kx="0" ky="0" algn="bl" rotWithShape="0" blurRad="88900" dist="25400" dir="5400000">
              <a:srgbClr val="1B1B1B">
                <a:alpha val="10000"/>
              </a:srgbClr>
            </a:outerShdw>
          </a:effectLst>
        </p:spPr>
      </p:sp>
      <p:sp>
        <p:nvSpPr>
          <p:cNvPr id="4" name="Shape 2"/>
          <p:cNvSpPr/>
          <p:nvPr/>
        </p:nvSpPr>
        <p:spPr>
          <a:xfrm>
            <a:off x="978408" y="2208276"/>
            <a:ext cx="566928" cy="566928"/>
          </a:xfrm>
          <a:prstGeom prst="ellipse">
            <a:avLst/>
          </a:prstGeom>
          <a:solidFill>
            <a:srgbClr val="A83232"/>
          </a:solidFill>
          <a:ln/>
        </p:spPr>
      </p:sp>
      <p:sp>
        <p:nvSpPr>
          <p:cNvPr id="5" name="Text 3"/>
          <p:cNvSpPr/>
          <p:nvPr/>
        </p:nvSpPr>
        <p:spPr>
          <a:xfrm>
            <a:off x="978408" y="2208276"/>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01</a:t>
            </a:r>
            <a:endParaRPr lang="en-US" sz="1700" dirty="0"/>
          </a:p>
        </p:txBody>
      </p:sp>
      <p:sp>
        <p:nvSpPr>
          <p:cNvPr id="6" name="Text 4"/>
          <p:cNvSpPr/>
          <p:nvPr/>
        </p:nvSpPr>
        <p:spPr>
          <a:xfrm>
            <a:off x="1837944" y="1828800"/>
            <a:ext cx="9317736" cy="1325880"/>
          </a:xfrm>
          <a:prstGeom prst="rect">
            <a:avLst/>
          </a:prstGeom>
          <a:noFill/>
          <a:ln/>
        </p:spPr>
        <p:txBody>
          <a:bodyPr wrap="square" lIns="0" tIns="0" rIns="0" bIns="0" rtlCol="0" anchor="ctr"/>
          <a:lstStyle/>
          <a:p>
            <a:pPr algn="l" indent="0" marL="0">
              <a:lnSpc>
                <a:spcPct val="115000"/>
              </a:lnSpc>
              <a:buNone/>
            </a:pPr>
            <a:r>
              <a:rPr lang="en-US" sz="1550" b="1" dirty="0">
                <a:solidFill>
                  <a:srgbClr val="1B1B1B"/>
                </a:solidFill>
                <a:latin typeface="Calibri" pitchFamily="34" charset="0"/>
                <a:ea typeface="Calibri" pitchFamily="34" charset="-122"/>
                <a:cs typeface="Calibri" pitchFamily="34" charset="-120"/>
              </a:rPr>
              <a:t>The Assumption:  </a:t>
            </a:r>
            <a:pPr algn="l" indent="0" marL="0">
              <a:lnSpc>
                <a:spcPct val="115000"/>
              </a:lnSpc>
              <a:buNone/>
            </a:pPr>
            <a:r>
              <a:rPr lang="en-US" sz="1550" dirty="0">
                <a:solidFill>
                  <a:srgbClr val="3A3A3A"/>
                </a:solidFill>
                <a:latin typeface="Calibri" pitchFamily="34" charset="0"/>
                <a:ea typeface="Calibri" pitchFamily="34" charset="-122"/>
                <a:cs typeface="Calibri" pitchFamily="34" charset="-120"/>
              </a:rPr>
              <a:t>High levels of water pollution (lead) directly and independently drive global infant mortality rates.</a:t>
            </a:r>
            <a:endParaRPr lang="en-US" sz="1550" dirty="0"/>
          </a:p>
        </p:txBody>
      </p:sp>
      <p:sp>
        <p:nvSpPr>
          <p:cNvPr id="7" name="Shape 5"/>
          <p:cNvSpPr/>
          <p:nvPr/>
        </p:nvSpPr>
        <p:spPr>
          <a:xfrm>
            <a:off x="685800" y="3410712"/>
            <a:ext cx="10789920" cy="1325880"/>
          </a:xfrm>
          <a:prstGeom prst="roundRect">
            <a:avLst>
              <a:gd name="adj" fmla="val 6207"/>
            </a:avLst>
          </a:prstGeom>
          <a:solidFill>
            <a:srgbClr val="E3F2F1"/>
          </a:solidFill>
          <a:ln/>
          <a:effectLst>
            <a:outerShdw sx="100000" sy="100000" kx="0" ky="0" algn="bl" rotWithShape="0" blurRad="88900" dist="25400" dir="5400000">
              <a:srgbClr val="1B1B1B">
                <a:alpha val="10000"/>
              </a:srgbClr>
            </a:outerShdw>
          </a:effectLst>
        </p:spPr>
      </p:sp>
      <p:sp>
        <p:nvSpPr>
          <p:cNvPr id="8" name="Shape 6"/>
          <p:cNvSpPr/>
          <p:nvPr/>
        </p:nvSpPr>
        <p:spPr>
          <a:xfrm>
            <a:off x="978408" y="3790188"/>
            <a:ext cx="566928" cy="566928"/>
          </a:xfrm>
          <a:prstGeom prst="ellipse">
            <a:avLst/>
          </a:prstGeom>
          <a:solidFill>
            <a:srgbClr val="0E7C86"/>
          </a:solidFill>
          <a:ln/>
        </p:spPr>
      </p:sp>
      <p:sp>
        <p:nvSpPr>
          <p:cNvPr id="9" name="Text 7"/>
          <p:cNvSpPr/>
          <p:nvPr/>
        </p:nvSpPr>
        <p:spPr>
          <a:xfrm>
            <a:off x="978408" y="3790188"/>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02</a:t>
            </a:r>
            <a:endParaRPr lang="en-US" sz="1700" dirty="0"/>
          </a:p>
        </p:txBody>
      </p:sp>
      <p:sp>
        <p:nvSpPr>
          <p:cNvPr id="10" name="Text 8"/>
          <p:cNvSpPr/>
          <p:nvPr/>
        </p:nvSpPr>
        <p:spPr>
          <a:xfrm>
            <a:off x="1837944" y="3410712"/>
            <a:ext cx="9317736" cy="1325880"/>
          </a:xfrm>
          <a:prstGeom prst="rect">
            <a:avLst/>
          </a:prstGeom>
          <a:noFill/>
          <a:ln/>
        </p:spPr>
        <p:txBody>
          <a:bodyPr wrap="square" lIns="0" tIns="0" rIns="0" bIns="0" rtlCol="0" anchor="ctr"/>
          <a:lstStyle/>
          <a:p>
            <a:pPr algn="l" indent="0" marL="0">
              <a:lnSpc>
                <a:spcPct val="115000"/>
              </a:lnSpc>
              <a:buNone/>
            </a:pPr>
            <a:r>
              <a:rPr lang="en-US" sz="1550" b="1" dirty="0">
                <a:solidFill>
                  <a:srgbClr val="1B1B1B"/>
                </a:solidFill>
                <a:latin typeface="Calibri" pitchFamily="34" charset="0"/>
                <a:ea typeface="Calibri" pitchFamily="34" charset="-122"/>
                <a:cs typeface="Calibri" pitchFamily="34" charset="-120"/>
              </a:rPr>
              <a:t>The Objective:  </a:t>
            </a:r>
            <a:pPr algn="l" indent="0" marL="0">
              <a:lnSpc>
                <a:spcPct val="115000"/>
              </a:lnSpc>
              <a:buNone/>
            </a:pPr>
            <a:r>
              <a:rPr lang="en-US" sz="1550" dirty="0">
                <a:solidFill>
                  <a:srgbClr val="3A3A3A"/>
                </a:solidFill>
                <a:latin typeface="Calibri" pitchFamily="34" charset="0"/>
                <a:ea typeface="Calibri" pitchFamily="34" charset="-122"/>
                <a:cs typeface="Calibri" pitchFamily="34" charset="-120"/>
              </a:rPr>
              <a:t>Programmatically clean and analyze global environmental data (2000–2024) to test this assumption mathematically.</a:t>
            </a:r>
            <a:endParaRPr lang="en-US" sz="1550" dirty="0"/>
          </a:p>
        </p:txBody>
      </p:sp>
      <p:sp>
        <p:nvSpPr>
          <p:cNvPr id="11" name="Shape 9"/>
          <p:cNvSpPr/>
          <p:nvPr/>
        </p:nvSpPr>
        <p:spPr>
          <a:xfrm>
            <a:off x="685800" y="4992624"/>
            <a:ext cx="10789920" cy="1325880"/>
          </a:xfrm>
          <a:prstGeom prst="roundRect">
            <a:avLst>
              <a:gd name="adj" fmla="val 6207"/>
            </a:avLst>
          </a:prstGeom>
          <a:solidFill>
            <a:srgbClr val="FBF2DC"/>
          </a:solidFill>
          <a:ln/>
          <a:effectLst>
            <a:outerShdw sx="100000" sy="100000" kx="0" ky="0" algn="bl" rotWithShape="0" blurRad="88900" dist="25400" dir="5400000">
              <a:srgbClr val="1B1B1B">
                <a:alpha val="10000"/>
              </a:srgbClr>
            </a:outerShdw>
          </a:effectLst>
        </p:spPr>
      </p:sp>
      <p:sp>
        <p:nvSpPr>
          <p:cNvPr id="12" name="Shape 10"/>
          <p:cNvSpPr/>
          <p:nvPr/>
        </p:nvSpPr>
        <p:spPr>
          <a:xfrm>
            <a:off x="978408" y="5372100"/>
            <a:ext cx="566928" cy="566928"/>
          </a:xfrm>
          <a:prstGeom prst="ellipse">
            <a:avLst/>
          </a:prstGeom>
          <a:solidFill>
            <a:srgbClr val="B8860B"/>
          </a:solidFill>
          <a:ln/>
        </p:spPr>
      </p:sp>
      <p:sp>
        <p:nvSpPr>
          <p:cNvPr id="13" name="Text 11"/>
          <p:cNvSpPr/>
          <p:nvPr/>
        </p:nvSpPr>
        <p:spPr>
          <a:xfrm>
            <a:off x="978408" y="5372100"/>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03</a:t>
            </a:r>
            <a:endParaRPr lang="en-US" sz="1700" dirty="0"/>
          </a:p>
        </p:txBody>
      </p:sp>
      <p:sp>
        <p:nvSpPr>
          <p:cNvPr id="14" name="Text 12"/>
          <p:cNvSpPr/>
          <p:nvPr/>
        </p:nvSpPr>
        <p:spPr>
          <a:xfrm>
            <a:off x="1837944" y="4992624"/>
            <a:ext cx="9317736" cy="1325880"/>
          </a:xfrm>
          <a:prstGeom prst="rect">
            <a:avLst/>
          </a:prstGeom>
          <a:noFill/>
          <a:ln/>
        </p:spPr>
        <p:txBody>
          <a:bodyPr wrap="square" lIns="0" tIns="0" rIns="0" bIns="0" rtlCol="0" anchor="ctr"/>
          <a:lstStyle/>
          <a:p>
            <a:pPr algn="l" indent="0" marL="0">
              <a:lnSpc>
                <a:spcPct val="115000"/>
              </a:lnSpc>
              <a:buNone/>
            </a:pPr>
            <a:r>
              <a:rPr lang="en-US" sz="1550" b="1" dirty="0">
                <a:solidFill>
                  <a:srgbClr val="1B1B1B"/>
                </a:solidFill>
                <a:latin typeface="Calibri" pitchFamily="34" charset="0"/>
                <a:ea typeface="Calibri" pitchFamily="34" charset="-122"/>
                <a:cs typeface="Calibri" pitchFamily="34" charset="-120"/>
              </a:rPr>
              <a:t>The Approach:  </a:t>
            </a:r>
            <a:pPr algn="l" indent="0" marL="0">
              <a:lnSpc>
                <a:spcPct val="115000"/>
              </a:lnSpc>
              <a:buNone/>
            </a:pPr>
            <a:r>
              <a:rPr lang="en-US" sz="1550" dirty="0">
                <a:solidFill>
                  <a:srgbClr val="3A3A3A"/>
                </a:solidFill>
                <a:latin typeface="Calibri" pitchFamily="34" charset="0"/>
                <a:ea typeface="Calibri" pitchFamily="34" charset="-122"/>
                <a:cs typeface="Calibri" pitchFamily="34" charset="-120"/>
              </a:rPr>
              <a:t>Utilize Python for preprocessing and Power BI to build a multi-stage visual narrative to uncover the true statistical drivers.</a:t>
            </a:r>
            <a:endParaRPr lang="en-US" sz="1550" dirty="0"/>
          </a:p>
        </p:txBody>
      </p:sp>
      <p:sp>
        <p:nvSpPr>
          <p:cNvPr id="15" name="Text 13"/>
          <p:cNvSpPr/>
          <p:nvPr/>
        </p:nvSpPr>
        <p:spPr>
          <a:xfrm>
            <a:off x="10698480" y="6355080"/>
            <a:ext cx="914400" cy="274320"/>
          </a:xfrm>
          <a:prstGeom prst="rect">
            <a:avLst/>
          </a:prstGeom>
          <a:noFill/>
          <a:ln/>
        </p:spPr>
        <p:txBody>
          <a:bodyPr wrap="square" lIns="0" tIns="0" rIns="0" bIns="0"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02 / 11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685800"/>
            <a:ext cx="10789920" cy="822960"/>
          </a:xfrm>
          <a:prstGeom prst="rect">
            <a:avLst/>
          </a:prstGeom>
          <a:noFill/>
          <a:ln/>
        </p:spPr>
        <p:txBody>
          <a:bodyPr wrap="square" lIns="0" tIns="0" rIns="0" bIns="0" rtlCol="0" anchor="t"/>
          <a:lstStyle/>
          <a:p>
            <a:pPr algn="l" indent="0" marL="0">
              <a:buNone/>
            </a:pPr>
            <a:r>
              <a:rPr lang="en-US" sz="3200" b="1" dirty="0">
                <a:solidFill>
                  <a:srgbClr val="1B1B1B"/>
                </a:solidFill>
                <a:latin typeface="Cambria" pitchFamily="34" charset="0"/>
                <a:ea typeface="Cambria" pitchFamily="34" charset="-122"/>
                <a:cs typeface="Cambria" pitchFamily="34" charset="-120"/>
              </a:rPr>
              <a:t>Data Scope &amp; Preprocessing</a:t>
            </a:r>
            <a:endParaRPr lang="en-US" sz="3200" dirty="0"/>
          </a:p>
        </p:txBody>
      </p:sp>
      <p:sp>
        <p:nvSpPr>
          <p:cNvPr id="3" name="Shape 1"/>
          <p:cNvSpPr/>
          <p:nvPr/>
        </p:nvSpPr>
        <p:spPr>
          <a:xfrm>
            <a:off x="685800" y="1828800"/>
            <a:ext cx="10789920" cy="1325880"/>
          </a:xfrm>
          <a:prstGeom prst="roundRect">
            <a:avLst>
              <a:gd name="adj" fmla="val 6207"/>
            </a:avLst>
          </a:prstGeom>
          <a:solidFill>
            <a:srgbClr val="E3F2F1"/>
          </a:solidFill>
          <a:ln/>
          <a:effectLst>
            <a:outerShdw sx="100000" sy="100000" kx="0" ky="0" algn="bl" rotWithShape="0" blurRad="88900" dist="25400" dir="5400000">
              <a:srgbClr val="1B1B1B">
                <a:alpha val="10000"/>
              </a:srgbClr>
            </a:outerShdw>
          </a:effectLst>
        </p:spPr>
      </p:sp>
      <p:sp>
        <p:nvSpPr>
          <p:cNvPr id="4" name="Shape 2"/>
          <p:cNvSpPr/>
          <p:nvPr/>
        </p:nvSpPr>
        <p:spPr>
          <a:xfrm>
            <a:off x="978408" y="2208276"/>
            <a:ext cx="566928" cy="566928"/>
          </a:xfrm>
          <a:prstGeom prst="ellipse">
            <a:avLst/>
          </a:prstGeom>
          <a:solidFill>
            <a:srgbClr val="0E7C86"/>
          </a:solidFill>
          <a:ln/>
        </p:spPr>
      </p:sp>
      <p:sp>
        <p:nvSpPr>
          <p:cNvPr id="5" name="Text 3"/>
          <p:cNvSpPr/>
          <p:nvPr/>
        </p:nvSpPr>
        <p:spPr>
          <a:xfrm>
            <a:off x="978408" y="2208276"/>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01</a:t>
            </a:r>
            <a:endParaRPr lang="en-US" sz="1700" dirty="0"/>
          </a:p>
        </p:txBody>
      </p:sp>
      <p:sp>
        <p:nvSpPr>
          <p:cNvPr id="6" name="Text 4"/>
          <p:cNvSpPr/>
          <p:nvPr/>
        </p:nvSpPr>
        <p:spPr>
          <a:xfrm>
            <a:off x="1837944" y="1828800"/>
            <a:ext cx="9317736" cy="1325880"/>
          </a:xfrm>
          <a:prstGeom prst="rect">
            <a:avLst/>
          </a:prstGeom>
          <a:noFill/>
          <a:ln/>
        </p:spPr>
        <p:txBody>
          <a:bodyPr wrap="square" lIns="0" tIns="0" rIns="0" bIns="0" rtlCol="0" anchor="ctr"/>
          <a:lstStyle/>
          <a:p>
            <a:pPr algn="l" indent="0" marL="0">
              <a:lnSpc>
                <a:spcPct val="115000"/>
              </a:lnSpc>
              <a:buNone/>
            </a:pPr>
            <a:r>
              <a:rPr lang="en-US" sz="1550" b="1" dirty="0">
                <a:solidFill>
                  <a:srgbClr val="1B1B1B"/>
                </a:solidFill>
                <a:latin typeface="Calibri" pitchFamily="34" charset="0"/>
                <a:ea typeface="Calibri" pitchFamily="34" charset="-122"/>
                <a:cs typeface="Calibri" pitchFamily="34" charset="-120"/>
              </a:rPr>
              <a:t>Volume:  </a:t>
            </a:r>
            <a:pPr algn="l" indent="0" marL="0">
              <a:lnSpc>
                <a:spcPct val="115000"/>
              </a:lnSpc>
              <a:buNone/>
            </a:pPr>
            <a:r>
              <a:rPr lang="en-US" sz="1550" dirty="0">
                <a:solidFill>
                  <a:srgbClr val="3A3A3A"/>
                </a:solidFill>
                <a:latin typeface="Calibri" pitchFamily="34" charset="0"/>
                <a:ea typeface="Calibri" pitchFamily="34" charset="-122"/>
                <a:cs typeface="Calibri" pitchFamily="34" charset="-120"/>
              </a:rPr>
              <a:t>3,000 global regions spanning a 24-year timeline.</a:t>
            </a:r>
            <a:endParaRPr lang="en-US" sz="1550" dirty="0"/>
          </a:p>
        </p:txBody>
      </p:sp>
      <p:sp>
        <p:nvSpPr>
          <p:cNvPr id="7" name="Shape 5"/>
          <p:cNvSpPr/>
          <p:nvPr/>
        </p:nvSpPr>
        <p:spPr>
          <a:xfrm>
            <a:off x="685800" y="3410712"/>
            <a:ext cx="10789920" cy="1325880"/>
          </a:xfrm>
          <a:prstGeom prst="roundRect">
            <a:avLst>
              <a:gd name="adj" fmla="val 6207"/>
            </a:avLst>
          </a:prstGeom>
          <a:solidFill>
            <a:srgbClr val="FBF2DC"/>
          </a:solidFill>
          <a:ln/>
          <a:effectLst>
            <a:outerShdw sx="100000" sy="100000" kx="0" ky="0" algn="bl" rotWithShape="0" blurRad="88900" dist="25400" dir="5400000">
              <a:srgbClr val="1B1B1B">
                <a:alpha val="10000"/>
              </a:srgbClr>
            </a:outerShdw>
          </a:effectLst>
        </p:spPr>
      </p:sp>
      <p:sp>
        <p:nvSpPr>
          <p:cNvPr id="8" name="Shape 6"/>
          <p:cNvSpPr/>
          <p:nvPr/>
        </p:nvSpPr>
        <p:spPr>
          <a:xfrm>
            <a:off x="978408" y="3790188"/>
            <a:ext cx="566928" cy="566928"/>
          </a:xfrm>
          <a:prstGeom prst="ellipse">
            <a:avLst/>
          </a:prstGeom>
          <a:solidFill>
            <a:srgbClr val="B8860B"/>
          </a:solidFill>
          <a:ln/>
        </p:spPr>
      </p:sp>
      <p:sp>
        <p:nvSpPr>
          <p:cNvPr id="9" name="Text 7"/>
          <p:cNvSpPr/>
          <p:nvPr/>
        </p:nvSpPr>
        <p:spPr>
          <a:xfrm>
            <a:off x="978408" y="3790188"/>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02</a:t>
            </a:r>
            <a:endParaRPr lang="en-US" sz="1700" dirty="0"/>
          </a:p>
        </p:txBody>
      </p:sp>
      <p:sp>
        <p:nvSpPr>
          <p:cNvPr id="10" name="Text 8"/>
          <p:cNvSpPr/>
          <p:nvPr/>
        </p:nvSpPr>
        <p:spPr>
          <a:xfrm>
            <a:off x="1837944" y="3410712"/>
            <a:ext cx="9317736" cy="1325880"/>
          </a:xfrm>
          <a:prstGeom prst="rect">
            <a:avLst/>
          </a:prstGeom>
          <a:noFill/>
          <a:ln/>
        </p:spPr>
        <p:txBody>
          <a:bodyPr wrap="square" lIns="0" tIns="0" rIns="0" bIns="0" rtlCol="0" anchor="ctr"/>
          <a:lstStyle/>
          <a:p>
            <a:pPr algn="l" indent="0" marL="0">
              <a:lnSpc>
                <a:spcPct val="115000"/>
              </a:lnSpc>
              <a:buNone/>
            </a:pPr>
            <a:r>
              <a:rPr lang="en-US" sz="1550" b="1" dirty="0">
                <a:solidFill>
                  <a:srgbClr val="1B1B1B"/>
                </a:solidFill>
                <a:latin typeface="Calibri" pitchFamily="34" charset="0"/>
                <a:ea typeface="Calibri" pitchFamily="34" charset="-122"/>
                <a:cs typeface="Calibri" pitchFamily="34" charset="-120"/>
              </a:rPr>
              <a:t>Features:  </a:t>
            </a:r>
            <a:pPr algn="l" indent="0" marL="0">
              <a:lnSpc>
                <a:spcPct val="115000"/>
              </a:lnSpc>
              <a:buNone/>
            </a:pPr>
            <a:r>
              <a:rPr lang="en-US" sz="1550" dirty="0">
                <a:solidFill>
                  <a:srgbClr val="3A3A3A"/>
                </a:solidFill>
                <a:latin typeface="Calibri" pitchFamily="34" charset="0"/>
                <a:ea typeface="Calibri" pitchFamily="34" charset="-122"/>
                <a:cs typeface="Calibri" pitchFamily="34" charset="-120"/>
              </a:rPr>
              <a:t>24 distinct variables including Lead Concentration (µg/L), Infant Mortality Rate, Healthcare Access Index, and GDP.</a:t>
            </a:r>
            <a:endParaRPr lang="en-US" sz="1550" dirty="0"/>
          </a:p>
        </p:txBody>
      </p:sp>
      <p:sp>
        <p:nvSpPr>
          <p:cNvPr id="11" name="Shape 9"/>
          <p:cNvSpPr/>
          <p:nvPr/>
        </p:nvSpPr>
        <p:spPr>
          <a:xfrm>
            <a:off x="685800" y="4992624"/>
            <a:ext cx="10789920" cy="1325880"/>
          </a:xfrm>
          <a:prstGeom prst="roundRect">
            <a:avLst>
              <a:gd name="adj" fmla="val 6207"/>
            </a:avLst>
          </a:prstGeom>
          <a:solidFill>
            <a:srgbClr val="E3F2F1"/>
          </a:solidFill>
          <a:ln/>
          <a:effectLst>
            <a:outerShdw sx="100000" sy="100000" kx="0" ky="0" algn="bl" rotWithShape="0" blurRad="88900" dist="25400" dir="5400000">
              <a:srgbClr val="1B1B1B">
                <a:alpha val="10000"/>
              </a:srgbClr>
            </a:outerShdw>
          </a:effectLst>
        </p:spPr>
      </p:sp>
      <p:sp>
        <p:nvSpPr>
          <p:cNvPr id="12" name="Shape 10"/>
          <p:cNvSpPr/>
          <p:nvPr/>
        </p:nvSpPr>
        <p:spPr>
          <a:xfrm>
            <a:off x="978408" y="5372100"/>
            <a:ext cx="566928" cy="566928"/>
          </a:xfrm>
          <a:prstGeom prst="ellipse">
            <a:avLst/>
          </a:prstGeom>
          <a:solidFill>
            <a:srgbClr val="0E7C86"/>
          </a:solidFill>
          <a:ln/>
        </p:spPr>
      </p:sp>
      <p:sp>
        <p:nvSpPr>
          <p:cNvPr id="13" name="Text 11"/>
          <p:cNvSpPr/>
          <p:nvPr/>
        </p:nvSpPr>
        <p:spPr>
          <a:xfrm>
            <a:off x="978408" y="5372100"/>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03</a:t>
            </a:r>
            <a:endParaRPr lang="en-US" sz="1700" dirty="0"/>
          </a:p>
        </p:txBody>
      </p:sp>
      <p:sp>
        <p:nvSpPr>
          <p:cNvPr id="14" name="Text 12"/>
          <p:cNvSpPr/>
          <p:nvPr/>
        </p:nvSpPr>
        <p:spPr>
          <a:xfrm>
            <a:off x="1837944" y="4992624"/>
            <a:ext cx="9317736" cy="1325880"/>
          </a:xfrm>
          <a:prstGeom prst="rect">
            <a:avLst/>
          </a:prstGeom>
          <a:noFill/>
          <a:ln/>
        </p:spPr>
        <p:txBody>
          <a:bodyPr wrap="square" lIns="0" tIns="0" rIns="0" bIns="0" rtlCol="0" anchor="ctr"/>
          <a:lstStyle/>
          <a:p>
            <a:pPr algn="l" indent="0" marL="0">
              <a:lnSpc>
                <a:spcPct val="115000"/>
              </a:lnSpc>
              <a:buNone/>
            </a:pPr>
            <a:r>
              <a:rPr lang="en-US" sz="1550" b="1" dirty="0">
                <a:solidFill>
                  <a:srgbClr val="1B1B1B"/>
                </a:solidFill>
                <a:latin typeface="Calibri" pitchFamily="34" charset="0"/>
                <a:ea typeface="Calibri" pitchFamily="34" charset="-122"/>
                <a:cs typeface="Calibri" pitchFamily="34" charset="-120"/>
              </a:rPr>
              <a:t>Data Cleaning:  </a:t>
            </a:r>
            <a:pPr algn="l" indent="0" marL="0">
              <a:lnSpc>
                <a:spcPct val="115000"/>
              </a:lnSpc>
              <a:buNone/>
            </a:pPr>
            <a:r>
              <a:rPr lang="en-US" sz="1550" dirty="0">
                <a:solidFill>
                  <a:srgbClr val="3A3A3A"/>
                </a:solidFill>
                <a:latin typeface="Calibri" pitchFamily="34" charset="0"/>
                <a:ea typeface="Calibri" pitchFamily="34" charset="-122"/>
                <a:cs typeface="Calibri" pitchFamily="34" charset="-120"/>
              </a:rPr>
              <a:t>Repaired corrupted column names and handled missing values using Python (Pandas) to establish a clean baseline for BI modeling.</a:t>
            </a:r>
            <a:endParaRPr lang="en-US" sz="1550" dirty="0"/>
          </a:p>
        </p:txBody>
      </p:sp>
      <p:sp>
        <p:nvSpPr>
          <p:cNvPr id="15" name="Text 13"/>
          <p:cNvSpPr/>
          <p:nvPr/>
        </p:nvSpPr>
        <p:spPr>
          <a:xfrm>
            <a:off x="10698480" y="6355080"/>
            <a:ext cx="914400" cy="274320"/>
          </a:xfrm>
          <a:prstGeom prst="rect">
            <a:avLst/>
          </a:prstGeom>
          <a:noFill/>
          <a:ln/>
        </p:spPr>
        <p:txBody>
          <a:bodyPr wrap="square" lIns="0" tIns="0" rIns="0" bIns="0"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03 / 11</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640080"/>
            <a:ext cx="10789920" cy="320040"/>
          </a:xfrm>
          <a:prstGeom prst="rect">
            <a:avLst/>
          </a:prstGeom>
          <a:noFill/>
          <a:ln/>
        </p:spPr>
        <p:txBody>
          <a:bodyPr wrap="square" lIns="0" tIns="0" rIns="0" bIns="0" rtlCol="0" anchor="t"/>
          <a:lstStyle/>
          <a:p>
            <a:pPr algn="l" indent="0" marL="0">
              <a:buNone/>
            </a:pPr>
            <a:r>
              <a:rPr lang="en-US" sz="1200" b="1" spc="200" kern="0" dirty="0">
                <a:solidFill>
                  <a:srgbClr val="A83232"/>
                </a:solidFill>
                <a:latin typeface="Calibri" pitchFamily="34" charset="0"/>
                <a:ea typeface="Calibri" pitchFamily="34" charset="-122"/>
                <a:cs typeface="Calibri" pitchFamily="34" charset="-120"/>
              </a:rPr>
              <a:t>VISUAL 1</a:t>
            </a:r>
            <a:endParaRPr lang="en-US" sz="1200" dirty="0"/>
          </a:p>
        </p:txBody>
      </p:sp>
      <p:sp>
        <p:nvSpPr>
          <p:cNvPr id="3" name="Text 1"/>
          <p:cNvSpPr/>
          <p:nvPr/>
        </p:nvSpPr>
        <p:spPr>
          <a:xfrm>
            <a:off x="685800" y="960120"/>
            <a:ext cx="10789920" cy="822960"/>
          </a:xfrm>
          <a:prstGeom prst="rect">
            <a:avLst/>
          </a:prstGeom>
          <a:noFill/>
          <a:ln/>
        </p:spPr>
        <p:txBody>
          <a:bodyPr wrap="square" lIns="0" tIns="0" rIns="0" bIns="0" rtlCol="0" anchor="t"/>
          <a:lstStyle/>
          <a:p>
            <a:pPr algn="l" indent="0" marL="0">
              <a:buNone/>
            </a:pPr>
            <a:r>
              <a:rPr lang="en-US" sz="3000" b="1" dirty="0">
                <a:solidFill>
                  <a:srgbClr val="A83232"/>
                </a:solidFill>
                <a:latin typeface="Cambria" pitchFamily="34" charset="0"/>
                <a:ea typeface="Cambria" pitchFamily="34" charset="-122"/>
                <a:cs typeface="Cambria" pitchFamily="34" charset="-120"/>
              </a:rPr>
              <a:t>Global Lead Toxicity Distribution</a:t>
            </a:r>
            <a:endParaRPr lang="en-US" sz="3000" dirty="0"/>
          </a:p>
        </p:txBody>
      </p:sp>
      <p:sp>
        <p:nvSpPr>
          <p:cNvPr id="4" name="Shape 2"/>
          <p:cNvSpPr/>
          <p:nvPr/>
        </p:nvSpPr>
        <p:spPr>
          <a:xfrm>
            <a:off x="685800" y="1828800"/>
            <a:ext cx="10789920" cy="4206240"/>
          </a:xfrm>
          <a:prstGeom prst="roundRect">
            <a:avLst>
              <a:gd name="adj" fmla="val 2609"/>
            </a:avLst>
          </a:prstGeom>
          <a:solidFill>
            <a:srgbClr val="FBE9E8"/>
          </a:solidFill>
          <a:ln/>
          <a:effectLst>
            <a:outerShdw sx="100000" sy="100000" kx="0" ky="0" algn="bl" rotWithShape="0" blurRad="127000" dist="38100" dir="5400000">
              <a:srgbClr val="1B1B1B">
                <a:alpha val="12000"/>
              </a:srgbClr>
            </a:outerShdw>
          </a:effectLst>
        </p:spPr>
      </p:sp>
      <p:sp>
        <p:nvSpPr>
          <p:cNvPr id="5" name="Shape 3"/>
          <p:cNvSpPr/>
          <p:nvPr/>
        </p:nvSpPr>
        <p:spPr>
          <a:xfrm>
            <a:off x="2811325" y="2057400"/>
            <a:ext cx="6538869" cy="3749040"/>
          </a:xfrm>
          <a:prstGeom prst="roundRect">
            <a:avLst>
              <a:gd name="adj" fmla="val 1463"/>
            </a:avLst>
          </a:prstGeom>
          <a:solidFill>
            <a:srgbClr val="FFFFFF"/>
          </a:solidFill>
          <a:ln/>
        </p:spPr>
      </p:sp>
      <p:pic>
        <p:nvPicPr>
          <p:cNvPr id="6" name="Image 0" descr="/home/claude/charts/chart_lead_distribution.png">    </p:cNvPr>
          <p:cNvPicPr>
            <a:picLocks noChangeAspect="1"/>
          </p:cNvPicPr>
          <p:nvPr/>
        </p:nvPicPr>
        <p:blipFill>
          <a:blip r:embed="rId1"/>
          <a:stretch>
            <a:fillRect/>
          </a:stretch>
        </p:blipFill>
        <p:spPr>
          <a:xfrm>
            <a:off x="2994205" y="2240280"/>
            <a:ext cx="6173109" cy="3383280"/>
          </a:xfrm>
          <a:prstGeom prst="rect">
            <a:avLst/>
          </a:prstGeom>
        </p:spPr>
      </p:pic>
      <p:sp>
        <p:nvSpPr>
          <p:cNvPr id="8" name="Text 4"/>
          <p:cNvSpPr/>
          <p:nvPr/>
        </p:nvSpPr>
        <p:spPr>
          <a:xfrm>
            <a:off x="10698480" y="6355080"/>
            <a:ext cx="914400" cy="274320"/>
          </a:xfrm>
          <a:prstGeom prst="rect">
            <a:avLst/>
          </a:prstGeom>
          <a:noFill/>
          <a:ln/>
        </p:spPr>
        <p:txBody>
          <a:bodyPr wrap="square" lIns="0" tIns="0" rIns="0" bIns="0"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04 / 11</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640080"/>
            <a:ext cx="10789920" cy="320040"/>
          </a:xfrm>
          <a:prstGeom prst="rect">
            <a:avLst/>
          </a:prstGeom>
          <a:noFill/>
          <a:ln/>
        </p:spPr>
        <p:txBody>
          <a:bodyPr wrap="square" lIns="0" tIns="0" rIns="0" bIns="0" rtlCol="0" anchor="t"/>
          <a:lstStyle/>
          <a:p>
            <a:pPr algn="l" indent="0" marL="0">
              <a:buNone/>
            </a:pPr>
            <a:r>
              <a:rPr lang="en-US" sz="1200" b="1" spc="200" kern="0" dirty="0">
                <a:solidFill>
                  <a:srgbClr val="0E7C86"/>
                </a:solidFill>
                <a:latin typeface="Calibri" pitchFamily="34" charset="0"/>
                <a:ea typeface="Calibri" pitchFamily="34" charset="-122"/>
                <a:cs typeface="Calibri" pitchFamily="34" charset="-120"/>
              </a:rPr>
              <a:t>VISUAL 2</a:t>
            </a:r>
            <a:endParaRPr lang="en-US" sz="1200" dirty="0"/>
          </a:p>
        </p:txBody>
      </p:sp>
      <p:sp>
        <p:nvSpPr>
          <p:cNvPr id="3" name="Text 1"/>
          <p:cNvSpPr/>
          <p:nvPr/>
        </p:nvSpPr>
        <p:spPr>
          <a:xfrm>
            <a:off x="685800" y="960120"/>
            <a:ext cx="10789920" cy="822960"/>
          </a:xfrm>
          <a:prstGeom prst="rect">
            <a:avLst/>
          </a:prstGeom>
          <a:noFill/>
          <a:ln/>
        </p:spPr>
        <p:txBody>
          <a:bodyPr wrap="square" lIns="0" tIns="0" rIns="0" bIns="0" rtlCol="0" anchor="t"/>
          <a:lstStyle/>
          <a:p>
            <a:pPr algn="l" indent="0" marL="0">
              <a:buNone/>
            </a:pPr>
            <a:r>
              <a:rPr lang="en-US" sz="3000" b="1" dirty="0">
                <a:solidFill>
                  <a:srgbClr val="0E7C86"/>
                </a:solidFill>
                <a:latin typeface="Cambria" pitchFamily="34" charset="0"/>
                <a:ea typeface="Cambria" pitchFamily="34" charset="-122"/>
                <a:cs typeface="Cambria" pitchFamily="34" charset="-120"/>
              </a:rPr>
              <a:t>Lead vs. Mortality Correlation</a:t>
            </a:r>
            <a:endParaRPr lang="en-US" sz="3000" dirty="0"/>
          </a:p>
        </p:txBody>
      </p:sp>
      <p:sp>
        <p:nvSpPr>
          <p:cNvPr id="4" name="Shape 2"/>
          <p:cNvSpPr/>
          <p:nvPr/>
        </p:nvSpPr>
        <p:spPr>
          <a:xfrm>
            <a:off x="685800" y="1828800"/>
            <a:ext cx="10789920" cy="4206240"/>
          </a:xfrm>
          <a:prstGeom prst="roundRect">
            <a:avLst>
              <a:gd name="adj" fmla="val 2609"/>
            </a:avLst>
          </a:prstGeom>
          <a:solidFill>
            <a:srgbClr val="E3F2F1"/>
          </a:solidFill>
          <a:ln/>
          <a:effectLst>
            <a:outerShdw sx="100000" sy="100000" kx="0" ky="0" algn="bl" rotWithShape="0" blurRad="127000" dist="38100" dir="5400000">
              <a:srgbClr val="1B1B1B">
                <a:alpha val="12000"/>
              </a:srgbClr>
            </a:outerShdw>
          </a:effectLst>
        </p:spPr>
      </p:sp>
      <p:sp>
        <p:nvSpPr>
          <p:cNvPr id="5" name="Shape 3"/>
          <p:cNvSpPr/>
          <p:nvPr/>
        </p:nvSpPr>
        <p:spPr>
          <a:xfrm>
            <a:off x="2811325" y="2057400"/>
            <a:ext cx="6538869" cy="3749040"/>
          </a:xfrm>
          <a:prstGeom prst="roundRect">
            <a:avLst>
              <a:gd name="adj" fmla="val 1463"/>
            </a:avLst>
          </a:prstGeom>
          <a:solidFill>
            <a:srgbClr val="FFFFFF"/>
          </a:solidFill>
          <a:ln/>
        </p:spPr>
      </p:sp>
      <p:pic>
        <p:nvPicPr>
          <p:cNvPr id="6" name="Image 0" descr="/home/claude/charts/chart_lead_vs_mortality.png">    </p:cNvPr>
          <p:cNvPicPr>
            <a:picLocks noChangeAspect="1"/>
          </p:cNvPicPr>
          <p:nvPr/>
        </p:nvPicPr>
        <p:blipFill>
          <a:blip r:embed="rId1"/>
          <a:stretch>
            <a:fillRect/>
          </a:stretch>
        </p:blipFill>
        <p:spPr>
          <a:xfrm>
            <a:off x="2994205" y="2240280"/>
            <a:ext cx="6173109" cy="3383280"/>
          </a:xfrm>
          <a:prstGeom prst="rect">
            <a:avLst/>
          </a:prstGeom>
        </p:spPr>
      </p:pic>
      <p:sp>
        <p:nvSpPr>
          <p:cNvPr id="8" name="Text 4"/>
          <p:cNvSpPr/>
          <p:nvPr/>
        </p:nvSpPr>
        <p:spPr>
          <a:xfrm>
            <a:off x="10698480" y="6355080"/>
            <a:ext cx="914400" cy="274320"/>
          </a:xfrm>
          <a:prstGeom prst="rect">
            <a:avLst/>
          </a:prstGeom>
          <a:noFill/>
          <a:ln/>
        </p:spPr>
        <p:txBody>
          <a:bodyPr wrap="square" lIns="0" tIns="0" rIns="0" bIns="0"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05 / 11</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640080"/>
            <a:ext cx="10789920" cy="320040"/>
          </a:xfrm>
          <a:prstGeom prst="rect">
            <a:avLst/>
          </a:prstGeom>
          <a:noFill/>
          <a:ln/>
        </p:spPr>
        <p:txBody>
          <a:bodyPr wrap="square" lIns="0" tIns="0" rIns="0" bIns="0" rtlCol="0" anchor="t"/>
          <a:lstStyle/>
          <a:p>
            <a:pPr algn="l" indent="0" marL="0">
              <a:buNone/>
            </a:pPr>
            <a:r>
              <a:rPr lang="en-US" sz="1200" b="1" spc="200" kern="0" dirty="0">
                <a:solidFill>
                  <a:srgbClr val="A83232"/>
                </a:solidFill>
                <a:latin typeface="Calibri" pitchFamily="34" charset="0"/>
                <a:ea typeface="Calibri" pitchFamily="34" charset="-122"/>
                <a:cs typeface="Calibri" pitchFamily="34" charset="-120"/>
              </a:rPr>
              <a:t>VISUAL 3</a:t>
            </a:r>
            <a:endParaRPr lang="en-US" sz="1200" dirty="0"/>
          </a:p>
        </p:txBody>
      </p:sp>
      <p:sp>
        <p:nvSpPr>
          <p:cNvPr id="3" name="Text 1"/>
          <p:cNvSpPr/>
          <p:nvPr/>
        </p:nvSpPr>
        <p:spPr>
          <a:xfrm>
            <a:off x="685800" y="960120"/>
            <a:ext cx="10789920" cy="822960"/>
          </a:xfrm>
          <a:prstGeom prst="rect">
            <a:avLst/>
          </a:prstGeom>
          <a:noFill/>
          <a:ln/>
        </p:spPr>
        <p:txBody>
          <a:bodyPr wrap="square" lIns="0" tIns="0" rIns="0" bIns="0" rtlCol="0" anchor="t"/>
          <a:lstStyle/>
          <a:p>
            <a:pPr algn="l" indent="0" marL="0">
              <a:buNone/>
            </a:pPr>
            <a:r>
              <a:rPr lang="en-US" sz="3000" b="1" dirty="0">
                <a:solidFill>
                  <a:srgbClr val="A83232"/>
                </a:solidFill>
                <a:latin typeface="Cambria" pitchFamily="34" charset="0"/>
                <a:ea typeface="Cambria" pitchFamily="34" charset="-122"/>
                <a:cs typeface="Cambria" pitchFamily="34" charset="-120"/>
              </a:rPr>
              <a:t>The 24-Year Historical Trend</a:t>
            </a:r>
            <a:endParaRPr lang="en-US" sz="3000" dirty="0"/>
          </a:p>
        </p:txBody>
      </p:sp>
      <p:sp>
        <p:nvSpPr>
          <p:cNvPr id="4" name="Shape 2"/>
          <p:cNvSpPr/>
          <p:nvPr/>
        </p:nvSpPr>
        <p:spPr>
          <a:xfrm>
            <a:off x="685800" y="1828800"/>
            <a:ext cx="10789920" cy="4206240"/>
          </a:xfrm>
          <a:prstGeom prst="roundRect">
            <a:avLst>
              <a:gd name="adj" fmla="val 2609"/>
            </a:avLst>
          </a:prstGeom>
          <a:solidFill>
            <a:srgbClr val="FBE9E8"/>
          </a:solidFill>
          <a:ln/>
          <a:effectLst>
            <a:outerShdw sx="100000" sy="100000" kx="0" ky="0" algn="bl" rotWithShape="0" blurRad="127000" dist="38100" dir="5400000">
              <a:srgbClr val="1B1B1B">
                <a:alpha val="12000"/>
              </a:srgbClr>
            </a:outerShdw>
          </a:effectLst>
        </p:spPr>
      </p:sp>
      <p:sp>
        <p:nvSpPr>
          <p:cNvPr id="5" name="Shape 3"/>
          <p:cNvSpPr/>
          <p:nvPr/>
        </p:nvSpPr>
        <p:spPr>
          <a:xfrm>
            <a:off x="2637726" y="2057400"/>
            <a:ext cx="6886069" cy="3749040"/>
          </a:xfrm>
          <a:prstGeom prst="roundRect">
            <a:avLst>
              <a:gd name="adj" fmla="val 1463"/>
            </a:avLst>
          </a:prstGeom>
          <a:solidFill>
            <a:srgbClr val="FFFFFF"/>
          </a:solidFill>
          <a:ln/>
        </p:spPr>
      </p:sp>
      <p:pic>
        <p:nvPicPr>
          <p:cNvPr id="6" name="Image 0" descr="/home/claude/charts/chart_24yr_trend.png">    </p:cNvPr>
          <p:cNvPicPr>
            <a:picLocks noChangeAspect="1"/>
          </p:cNvPicPr>
          <p:nvPr/>
        </p:nvPicPr>
        <p:blipFill>
          <a:blip r:embed="rId1"/>
          <a:stretch>
            <a:fillRect/>
          </a:stretch>
        </p:blipFill>
        <p:spPr>
          <a:xfrm>
            <a:off x="2820606" y="2240280"/>
            <a:ext cx="6520309" cy="3383280"/>
          </a:xfrm>
          <a:prstGeom prst="rect">
            <a:avLst/>
          </a:prstGeom>
        </p:spPr>
      </p:pic>
      <p:sp>
        <p:nvSpPr>
          <p:cNvPr id="8" name="Text 4"/>
          <p:cNvSpPr/>
          <p:nvPr/>
        </p:nvSpPr>
        <p:spPr>
          <a:xfrm>
            <a:off x="10698480" y="6355080"/>
            <a:ext cx="914400" cy="274320"/>
          </a:xfrm>
          <a:prstGeom prst="rect">
            <a:avLst/>
          </a:prstGeom>
          <a:noFill/>
          <a:ln/>
        </p:spPr>
        <p:txBody>
          <a:bodyPr wrap="square" lIns="0" tIns="0" rIns="0" bIns="0"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06 / 11</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640080"/>
            <a:ext cx="10789920" cy="320040"/>
          </a:xfrm>
          <a:prstGeom prst="rect">
            <a:avLst/>
          </a:prstGeom>
          <a:noFill/>
          <a:ln/>
        </p:spPr>
        <p:txBody>
          <a:bodyPr wrap="square" lIns="0" tIns="0" rIns="0" bIns="0" rtlCol="0" anchor="t"/>
          <a:lstStyle/>
          <a:p>
            <a:pPr algn="l" indent="0" marL="0">
              <a:buNone/>
            </a:pPr>
            <a:r>
              <a:rPr lang="en-US" sz="1200" b="1" spc="200" kern="0" dirty="0">
                <a:solidFill>
                  <a:srgbClr val="1E8449"/>
                </a:solidFill>
                <a:latin typeface="Calibri" pitchFamily="34" charset="0"/>
                <a:ea typeface="Calibri" pitchFamily="34" charset="-122"/>
                <a:cs typeface="Calibri" pitchFamily="34" charset="-120"/>
              </a:rPr>
              <a:t>VISUAL 4</a:t>
            </a:r>
            <a:endParaRPr lang="en-US" sz="1200" dirty="0"/>
          </a:p>
        </p:txBody>
      </p:sp>
      <p:sp>
        <p:nvSpPr>
          <p:cNvPr id="3" name="Text 1"/>
          <p:cNvSpPr/>
          <p:nvPr/>
        </p:nvSpPr>
        <p:spPr>
          <a:xfrm>
            <a:off x="685800" y="960120"/>
            <a:ext cx="10789920" cy="822960"/>
          </a:xfrm>
          <a:prstGeom prst="rect">
            <a:avLst/>
          </a:prstGeom>
          <a:noFill/>
          <a:ln/>
        </p:spPr>
        <p:txBody>
          <a:bodyPr wrap="square" lIns="0" tIns="0" rIns="0" bIns="0" rtlCol="0" anchor="t"/>
          <a:lstStyle/>
          <a:p>
            <a:pPr algn="l" indent="0" marL="0">
              <a:buNone/>
            </a:pPr>
            <a:r>
              <a:rPr lang="en-US" sz="3000" b="1" dirty="0">
                <a:solidFill>
                  <a:srgbClr val="1E8449"/>
                </a:solidFill>
                <a:latin typeface="Cambria" pitchFamily="34" charset="0"/>
                <a:ea typeface="Cambria" pitchFamily="34" charset="-122"/>
                <a:cs typeface="Cambria" pitchFamily="34" charset="-120"/>
              </a:rPr>
              <a:t>The Healthcare Miracle</a:t>
            </a:r>
            <a:endParaRPr lang="en-US" sz="3000" dirty="0"/>
          </a:p>
        </p:txBody>
      </p:sp>
      <p:sp>
        <p:nvSpPr>
          <p:cNvPr id="4" name="Shape 2"/>
          <p:cNvSpPr/>
          <p:nvPr/>
        </p:nvSpPr>
        <p:spPr>
          <a:xfrm>
            <a:off x="685800" y="1828800"/>
            <a:ext cx="10789920" cy="4206240"/>
          </a:xfrm>
          <a:prstGeom prst="roundRect">
            <a:avLst>
              <a:gd name="adj" fmla="val 2609"/>
            </a:avLst>
          </a:prstGeom>
          <a:solidFill>
            <a:srgbClr val="E7F6EC"/>
          </a:solidFill>
          <a:ln/>
          <a:effectLst>
            <a:outerShdw sx="100000" sy="100000" kx="0" ky="0" algn="bl" rotWithShape="0" blurRad="127000" dist="38100" dir="5400000">
              <a:srgbClr val="1B1B1B">
                <a:alpha val="12000"/>
              </a:srgbClr>
            </a:outerShdw>
          </a:effectLst>
        </p:spPr>
      </p:sp>
      <p:sp>
        <p:nvSpPr>
          <p:cNvPr id="5" name="Shape 3"/>
          <p:cNvSpPr/>
          <p:nvPr/>
        </p:nvSpPr>
        <p:spPr>
          <a:xfrm>
            <a:off x="2672522" y="2057400"/>
            <a:ext cx="6816476" cy="3749040"/>
          </a:xfrm>
          <a:prstGeom prst="roundRect">
            <a:avLst>
              <a:gd name="adj" fmla="val 1463"/>
            </a:avLst>
          </a:prstGeom>
          <a:solidFill>
            <a:srgbClr val="FFFFFF"/>
          </a:solidFill>
          <a:ln/>
        </p:spPr>
      </p:sp>
      <p:pic>
        <p:nvPicPr>
          <p:cNvPr id="6" name="Image 0" descr="/home/claude/charts/chart_healthcare_miracle.png">    </p:cNvPr>
          <p:cNvPicPr>
            <a:picLocks noChangeAspect="1"/>
          </p:cNvPicPr>
          <p:nvPr/>
        </p:nvPicPr>
        <p:blipFill>
          <a:blip r:embed="rId1"/>
          <a:stretch>
            <a:fillRect/>
          </a:stretch>
        </p:blipFill>
        <p:spPr>
          <a:xfrm>
            <a:off x="2855402" y="2240280"/>
            <a:ext cx="6450716" cy="3383280"/>
          </a:xfrm>
          <a:prstGeom prst="rect">
            <a:avLst/>
          </a:prstGeom>
        </p:spPr>
      </p:pic>
      <p:sp>
        <p:nvSpPr>
          <p:cNvPr id="8" name="Text 4"/>
          <p:cNvSpPr/>
          <p:nvPr/>
        </p:nvSpPr>
        <p:spPr>
          <a:xfrm>
            <a:off x="10698480" y="6355080"/>
            <a:ext cx="914400" cy="274320"/>
          </a:xfrm>
          <a:prstGeom prst="rect">
            <a:avLst/>
          </a:prstGeom>
          <a:noFill/>
          <a:ln/>
        </p:spPr>
        <p:txBody>
          <a:bodyPr wrap="square" lIns="0" tIns="0" rIns="0" bIns="0"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07 / 11</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685800"/>
            <a:ext cx="10789920" cy="822960"/>
          </a:xfrm>
          <a:prstGeom prst="rect">
            <a:avLst/>
          </a:prstGeom>
          <a:noFill/>
          <a:ln/>
        </p:spPr>
        <p:txBody>
          <a:bodyPr wrap="square" lIns="0" tIns="0" rIns="0" bIns="0" rtlCol="0" anchor="t"/>
          <a:lstStyle/>
          <a:p>
            <a:pPr algn="l" indent="0" marL="0">
              <a:buNone/>
            </a:pPr>
            <a:r>
              <a:rPr lang="en-US" sz="3200" b="1" dirty="0">
                <a:solidFill>
                  <a:srgbClr val="1B1B1B"/>
                </a:solidFill>
                <a:latin typeface="Cambria" pitchFamily="34" charset="0"/>
                <a:ea typeface="Cambria" pitchFamily="34" charset="-122"/>
                <a:cs typeface="Cambria" pitchFamily="34" charset="-120"/>
              </a:rPr>
              <a:t>The Grand Conclusion</a:t>
            </a:r>
            <a:endParaRPr lang="en-US" sz="3200" dirty="0"/>
          </a:p>
        </p:txBody>
      </p:sp>
      <p:sp>
        <p:nvSpPr>
          <p:cNvPr id="3" name="Shape 1"/>
          <p:cNvSpPr/>
          <p:nvPr/>
        </p:nvSpPr>
        <p:spPr>
          <a:xfrm>
            <a:off x="685800" y="2011680"/>
            <a:ext cx="10789920" cy="1874520"/>
          </a:xfrm>
          <a:prstGeom prst="roundRect">
            <a:avLst>
              <a:gd name="adj" fmla="val 4390"/>
            </a:avLst>
          </a:prstGeom>
          <a:solidFill>
            <a:srgbClr val="FBE9E8"/>
          </a:solidFill>
          <a:ln/>
          <a:effectLst>
            <a:outerShdw sx="100000" sy="100000" kx="0" ky="0" algn="bl" rotWithShape="0" blurRad="88900" dist="25400" dir="5400000">
              <a:srgbClr val="1B1B1B">
                <a:alpha val="10000"/>
              </a:srgbClr>
            </a:outerShdw>
          </a:effectLst>
        </p:spPr>
      </p:sp>
      <p:sp>
        <p:nvSpPr>
          <p:cNvPr id="4" name="Shape 2"/>
          <p:cNvSpPr/>
          <p:nvPr/>
        </p:nvSpPr>
        <p:spPr>
          <a:xfrm>
            <a:off x="978408" y="2665476"/>
            <a:ext cx="566928" cy="566928"/>
          </a:xfrm>
          <a:prstGeom prst="ellipse">
            <a:avLst/>
          </a:prstGeom>
          <a:solidFill>
            <a:srgbClr val="A83232"/>
          </a:solidFill>
          <a:ln/>
        </p:spPr>
      </p:sp>
      <p:sp>
        <p:nvSpPr>
          <p:cNvPr id="5" name="Text 3"/>
          <p:cNvSpPr/>
          <p:nvPr/>
        </p:nvSpPr>
        <p:spPr>
          <a:xfrm>
            <a:off x="978408" y="2665476"/>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01</a:t>
            </a:r>
            <a:endParaRPr lang="en-US" sz="1700" dirty="0"/>
          </a:p>
        </p:txBody>
      </p:sp>
      <p:sp>
        <p:nvSpPr>
          <p:cNvPr id="6" name="Text 4"/>
          <p:cNvSpPr/>
          <p:nvPr/>
        </p:nvSpPr>
        <p:spPr>
          <a:xfrm>
            <a:off x="1837944" y="2011680"/>
            <a:ext cx="9317736" cy="1874520"/>
          </a:xfrm>
          <a:prstGeom prst="rect">
            <a:avLst/>
          </a:prstGeom>
          <a:noFill/>
          <a:ln/>
        </p:spPr>
        <p:txBody>
          <a:bodyPr wrap="square" lIns="0" tIns="0" rIns="0" bIns="0" rtlCol="0" anchor="ctr"/>
          <a:lstStyle/>
          <a:p>
            <a:pPr algn="l" indent="0" marL="0">
              <a:lnSpc>
                <a:spcPct val="115000"/>
              </a:lnSpc>
              <a:buNone/>
            </a:pPr>
            <a:r>
              <a:rPr lang="en-US" sz="1550" b="1" dirty="0">
                <a:solidFill>
                  <a:srgbClr val="1B1B1B"/>
                </a:solidFill>
                <a:latin typeface="Calibri" pitchFamily="34" charset="0"/>
                <a:ea typeface="Calibri" pitchFamily="34" charset="-122"/>
                <a:cs typeface="Calibri" pitchFamily="34" charset="-120"/>
              </a:rPr>
              <a:t>Debunking the Assumption:  </a:t>
            </a:r>
            <a:pPr algn="l" indent="0" marL="0">
              <a:lnSpc>
                <a:spcPct val="115000"/>
              </a:lnSpc>
              <a:buNone/>
            </a:pPr>
            <a:r>
              <a:rPr lang="en-US" sz="1550" dirty="0">
                <a:solidFill>
                  <a:srgbClr val="3A3A3A"/>
                </a:solidFill>
                <a:latin typeface="Calibri" pitchFamily="34" charset="0"/>
                <a:ea typeface="Calibri" pitchFamily="34" charset="-122"/>
                <a:cs typeface="Calibri" pitchFamily="34" charset="-120"/>
              </a:rPr>
              <a:t>Lead toxicity levels remained flat globally over the measured period. It was not the primary factor moving the needle on survival rates.</a:t>
            </a:r>
            <a:endParaRPr lang="en-US" sz="1550" dirty="0"/>
          </a:p>
        </p:txBody>
      </p:sp>
      <p:sp>
        <p:nvSpPr>
          <p:cNvPr id="7" name="Shape 5"/>
          <p:cNvSpPr/>
          <p:nvPr/>
        </p:nvSpPr>
        <p:spPr>
          <a:xfrm>
            <a:off x="685800" y="4206240"/>
            <a:ext cx="10789920" cy="1874520"/>
          </a:xfrm>
          <a:prstGeom prst="roundRect">
            <a:avLst>
              <a:gd name="adj" fmla="val 4390"/>
            </a:avLst>
          </a:prstGeom>
          <a:solidFill>
            <a:srgbClr val="E7F6EC"/>
          </a:solidFill>
          <a:ln/>
          <a:effectLst>
            <a:outerShdw sx="100000" sy="100000" kx="0" ky="0" algn="bl" rotWithShape="0" blurRad="88900" dist="25400" dir="5400000">
              <a:srgbClr val="1B1B1B">
                <a:alpha val="10000"/>
              </a:srgbClr>
            </a:outerShdw>
          </a:effectLst>
        </p:spPr>
      </p:sp>
      <p:sp>
        <p:nvSpPr>
          <p:cNvPr id="8" name="Shape 6"/>
          <p:cNvSpPr/>
          <p:nvPr/>
        </p:nvSpPr>
        <p:spPr>
          <a:xfrm>
            <a:off x="978408" y="4860036"/>
            <a:ext cx="566928" cy="566928"/>
          </a:xfrm>
          <a:prstGeom prst="ellipse">
            <a:avLst/>
          </a:prstGeom>
          <a:solidFill>
            <a:srgbClr val="1E8449"/>
          </a:solidFill>
          <a:ln/>
        </p:spPr>
      </p:sp>
      <p:sp>
        <p:nvSpPr>
          <p:cNvPr id="9" name="Text 7"/>
          <p:cNvSpPr/>
          <p:nvPr/>
        </p:nvSpPr>
        <p:spPr>
          <a:xfrm>
            <a:off x="978408" y="4860036"/>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02</a:t>
            </a:r>
            <a:endParaRPr lang="en-US" sz="1700" dirty="0"/>
          </a:p>
        </p:txBody>
      </p:sp>
      <p:sp>
        <p:nvSpPr>
          <p:cNvPr id="10" name="Text 8"/>
          <p:cNvSpPr/>
          <p:nvPr/>
        </p:nvSpPr>
        <p:spPr>
          <a:xfrm>
            <a:off x="1837944" y="4206240"/>
            <a:ext cx="9317736" cy="1874520"/>
          </a:xfrm>
          <a:prstGeom prst="rect">
            <a:avLst/>
          </a:prstGeom>
          <a:noFill/>
          <a:ln/>
        </p:spPr>
        <p:txBody>
          <a:bodyPr wrap="square" lIns="0" tIns="0" rIns="0" bIns="0" rtlCol="0" anchor="ctr"/>
          <a:lstStyle/>
          <a:p>
            <a:pPr algn="l" indent="0" marL="0">
              <a:lnSpc>
                <a:spcPct val="115000"/>
              </a:lnSpc>
              <a:buNone/>
            </a:pPr>
            <a:r>
              <a:rPr lang="en-US" sz="1550" b="1" dirty="0">
                <a:solidFill>
                  <a:srgbClr val="1B1B1B"/>
                </a:solidFill>
                <a:latin typeface="Calibri" pitchFamily="34" charset="0"/>
                <a:ea typeface="Calibri" pitchFamily="34" charset="-122"/>
                <a:cs typeface="Calibri" pitchFamily="34" charset="-120"/>
              </a:rPr>
              <a:t>The True Mechanism:  </a:t>
            </a:r>
            <a:pPr algn="l" indent="0" marL="0">
              <a:lnSpc>
                <a:spcPct val="115000"/>
              </a:lnSpc>
              <a:buNone/>
            </a:pPr>
            <a:r>
              <a:rPr lang="en-US" sz="1550" dirty="0">
                <a:solidFill>
                  <a:srgbClr val="3A3A3A"/>
                </a:solidFill>
                <a:latin typeface="Calibri" pitchFamily="34" charset="0"/>
                <a:ea typeface="Calibri" pitchFamily="34" charset="-122"/>
                <a:cs typeface="Calibri" pitchFamily="34" charset="-120"/>
              </a:rPr>
              <a:t>Human medicine outpaced persistent environmental pollution. The steady improvement in the Healthcare Access Index was the actual, hidden driver lowering infant mortality over the last two decades.</a:t>
            </a:r>
            <a:endParaRPr lang="en-US" sz="1550" dirty="0"/>
          </a:p>
        </p:txBody>
      </p:sp>
      <p:sp>
        <p:nvSpPr>
          <p:cNvPr id="11" name="Text 9"/>
          <p:cNvSpPr/>
          <p:nvPr/>
        </p:nvSpPr>
        <p:spPr>
          <a:xfrm>
            <a:off x="10698480" y="6355080"/>
            <a:ext cx="914400" cy="274320"/>
          </a:xfrm>
          <a:prstGeom prst="rect">
            <a:avLst/>
          </a:prstGeom>
          <a:noFill/>
          <a:ln/>
        </p:spPr>
        <p:txBody>
          <a:bodyPr wrap="square" lIns="0" tIns="0" rIns="0" bIns="0"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08 / 11</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685800"/>
            <a:ext cx="10789920" cy="822960"/>
          </a:xfrm>
          <a:prstGeom prst="rect">
            <a:avLst/>
          </a:prstGeom>
          <a:noFill/>
          <a:ln/>
        </p:spPr>
        <p:txBody>
          <a:bodyPr wrap="square" lIns="0" tIns="0" rIns="0" bIns="0" rtlCol="0" anchor="t"/>
          <a:lstStyle/>
          <a:p>
            <a:pPr algn="l" indent="0" marL="0">
              <a:buNone/>
            </a:pPr>
            <a:r>
              <a:rPr lang="en-US" sz="3200" b="1" dirty="0">
                <a:solidFill>
                  <a:srgbClr val="1B1B1B"/>
                </a:solidFill>
                <a:latin typeface="Cambria" pitchFamily="34" charset="0"/>
                <a:ea typeface="Cambria" pitchFamily="34" charset="-122"/>
                <a:cs typeface="Cambria" pitchFamily="34" charset="-120"/>
              </a:rPr>
              <a:t>Moving Toward Predictive Modeling</a:t>
            </a:r>
            <a:endParaRPr lang="en-US" sz="3200" dirty="0"/>
          </a:p>
        </p:txBody>
      </p:sp>
      <p:sp>
        <p:nvSpPr>
          <p:cNvPr id="3" name="Text 1"/>
          <p:cNvSpPr/>
          <p:nvPr/>
        </p:nvSpPr>
        <p:spPr>
          <a:xfrm>
            <a:off x="685800" y="1783080"/>
            <a:ext cx="10789920" cy="685800"/>
          </a:xfrm>
          <a:prstGeom prst="rect">
            <a:avLst/>
          </a:prstGeom>
          <a:noFill/>
          <a:ln/>
        </p:spPr>
        <p:txBody>
          <a:bodyPr wrap="square" lIns="0" tIns="0" rIns="0" bIns="0" rtlCol="0" anchor="t"/>
          <a:lstStyle/>
          <a:p>
            <a:pPr algn="l" indent="0" marL="0">
              <a:lnSpc>
                <a:spcPct val="115000"/>
              </a:lnSpc>
              <a:buNone/>
            </a:pPr>
            <a:r>
              <a:rPr lang="en-US" sz="2000" i="1" dirty="0">
                <a:solidFill>
                  <a:srgbClr val="B8860B"/>
                </a:solidFill>
                <a:latin typeface="Cambria" pitchFamily="34" charset="0"/>
                <a:ea typeface="Cambria" pitchFamily="34" charset="-122"/>
                <a:cs typeface="Cambria" pitchFamily="34" charset="-120"/>
              </a:rPr>
              <a:t>Historical visualization explains the past, but Machine Learning predicts the future.</a:t>
            </a:r>
            <a:endParaRPr lang="en-US" sz="2000" dirty="0"/>
          </a:p>
        </p:txBody>
      </p:sp>
      <p:sp>
        <p:nvSpPr>
          <p:cNvPr id="4" name="Shape 2"/>
          <p:cNvSpPr/>
          <p:nvPr/>
        </p:nvSpPr>
        <p:spPr>
          <a:xfrm>
            <a:off x="685800" y="2697480"/>
            <a:ext cx="10789920" cy="1417320"/>
          </a:xfrm>
          <a:prstGeom prst="roundRect">
            <a:avLst>
              <a:gd name="adj" fmla="val 5806"/>
            </a:avLst>
          </a:prstGeom>
          <a:solidFill>
            <a:srgbClr val="FBF2DC"/>
          </a:solidFill>
          <a:ln/>
          <a:effectLst>
            <a:outerShdw sx="100000" sy="100000" kx="0" ky="0" algn="bl" rotWithShape="0" blurRad="88900" dist="25400" dir="5400000">
              <a:srgbClr val="1B1B1B">
                <a:alpha val="10000"/>
              </a:srgbClr>
            </a:outerShdw>
          </a:effectLst>
        </p:spPr>
      </p:sp>
      <p:sp>
        <p:nvSpPr>
          <p:cNvPr id="5" name="Shape 3"/>
          <p:cNvSpPr/>
          <p:nvPr/>
        </p:nvSpPr>
        <p:spPr>
          <a:xfrm>
            <a:off x="978408" y="3122676"/>
            <a:ext cx="566928" cy="566928"/>
          </a:xfrm>
          <a:prstGeom prst="ellipse">
            <a:avLst/>
          </a:prstGeom>
          <a:solidFill>
            <a:srgbClr val="B8860B"/>
          </a:solidFill>
          <a:ln/>
        </p:spPr>
      </p:sp>
      <p:sp>
        <p:nvSpPr>
          <p:cNvPr id="6" name="Text 4"/>
          <p:cNvSpPr/>
          <p:nvPr/>
        </p:nvSpPr>
        <p:spPr>
          <a:xfrm>
            <a:off x="978408" y="3122676"/>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01</a:t>
            </a:r>
            <a:endParaRPr lang="en-US" sz="1700" dirty="0"/>
          </a:p>
        </p:txBody>
      </p:sp>
      <p:sp>
        <p:nvSpPr>
          <p:cNvPr id="7" name="Text 5"/>
          <p:cNvSpPr/>
          <p:nvPr/>
        </p:nvSpPr>
        <p:spPr>
          <a:xfrm>
            <a:off x="1837944" y="2697480"/>
            <a:ext cx="9317736" cy="1417320"/>
          </a:xfrm>
          <a:prstGeom prst="rect">
            <a:avLst/>
          </a:prstGeom>
          <a:noFill/>
          <a:ln/>
        </p:spPr>
        <p:txBody>
          <a:bodyPr wrap="square" lIns="0" tIns="0" rIns="0" bIns="0" rtlCol="0" anchor="ctr"/>
          <a:lstStyle/>
          <a:p>
            <a:pPr algn="l" indent="0" marL="0">
              <a:lnSpc>
                <a:spcPct val="115000"/>
              </a:lnSpc>
              <a:buNone/>
            </a:pPr>
            <a:r>
              <a:rPr lang="en-US" sz="1550" b="1" dirty="0">
                <a:solidFill>
                  <a:srgbClr val="1B1B1B"/>
                </a:solidFill>
                <a:latin typeface="Calibri" pitchFamily="34" charset="0"/>
                <a:ea typeface="Calibri" pitchFamily="34" charset="-122"/>
                <a:cs typeface="Calibri" pitchFamily="34" charset="-120"/>
              </a:rPr>
              <a:t>Next Step:  </a:t>
            </a:r>
            <a:pPr algn="l" indent="0" marL="0">
              <a:lnSpc>
                <a:spcPct val="115000"/>
              </a:lnSpc>
              <a:buNone/>
            </a:pPr>
            <a:r>
              <a:rPr lang="en-US" sz="1550" dirty="0">
                <a:solidFill>
                  <a:srgbClr val="3A3A3A"/>
                </a:solidFill>
                <a:latin typeface="Calibri" pitchFamily="34" charset="0"/>
                <a:ea typeface="Calibri" pitchFamily="34" charset="-122"/>
                <a:cs typeface="Calibri" pitchFamily="34" charset="-120"/>
              </a:rPr>
              <a:t>Build a predictive regression model (Random Forest / XGBoost) using the cleaned Python dataset.</a:t>
            </a:r>
            <a:endParaRPr lang="en-US" sz="1550" dirty="0"/>
          </a:p>
        </p:txBody>
      </p:sp>
      <p:sp>
        <p:nvSpPr>
          <p:cNvPr id="8" name="Shape 6"/>
          <p:cNvSpPr/>
          <p:nvPr/>
        </p:nvSpPr>
        <p:spPr>
          <a:xfrm>
            <a:off x="685800" y="4389120"/>
            <a:ext cx="10789920" cy="1417320"/>
          </a:xfrm>
          <a:prstGeom prst="roundRect">
            <a:avLst>
              <a:gd name="adj" fmla="val 5806"/>
            </a:avLst>
          </a:prstGeom>
          <a:solidFill>
            <a:srgbClr val="FBF2DC"/>
          </a:solidFill>
          <a:ln/>
          <a:effectLst>
            <a:outerShdw sx="100000" sy="100000" kx="0" ky="0" algn="bl" rotWithShape="0" blurRad="88900" dist="25400" dir="5400000">
              <a:srgbClr val="1B1B1B">
                <a:alpha val="10000"/>
              </a:srgbClr>
            </a:outerShdw>
          </a:effectLst>
        </p:spPr>
      </p:sp>
      <p:sp>
        <p:nvSpPr>
          <p:cNvPr id="9" name="Shape 7"/>
          <p:cNvSpPr/>
          <p:nvPr/>
        </p:nvSpPr>
        <p:spPr>
          <a:xfrm>
            <a:off x="978408" y="4814316"/>
            <a:ext cx="566928" cy="566928"/>
          </a:xfrm>
          <a:prstGeom prst="ellipse">
            <a:avLst/>
          </a:prstGeom>
          <a:solidFill>
            <a:srgbClr val="B8860B"/>
          </a:solidFill>
          <a:ln/>
        </p:spPr>
      </p:sp>
      <p:sp>
        <p:nvSpPr>
          <p:cNvPr id="10" name="Text 8"/>
          <p:cNvSpPr/>
          <p:nvPr/>
        </p:nvSpPr>
        <p:spPr>
          <a:xfrm>
            <a:off x="978408" y="4814316"/>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02</a:t>
            </a:r>
            <a:endParaRPr lang="en-US" sz="1700" dirty="0"/>
          </a:p>
        </p:txBody>
      </p:sp>
      <p:sp>
        <p:nvSpPr>
          <p:cNvPr id="11" name="Text 9"/>
          <p:cNvSpPr/>
          <p:nvPr/>
        </p:nvSpPr>
        <p:spPr>
          <a:xfrm>
            <a:off x="1837944" y="4389120"/>
            <a:ext cx="9317736" cy="1417320"/>
          </a:xfrm>
          <a:prstGeom prst="rect">
            <a:avLst/>
          </a:prstGeom>
          <a:noFill/>
          <a:ln/>
        </p:spPr>
        <p:txBody>
          <a:bodyPr wrap="square" lIns="0" tIns="0" rIns="0" bIns="0" rtlCol="0" anchor="ctr"/>
          <a:lstStyle/>
          <a:p>
            <a:pPr algn="l" indent="0" marL="0">
              <a:lnSpc>
                <a:spcPct val="115000"/>
              </a:lnSpc>
              <a:buNone/>
            </a:pPr>
            <a:r>
              <a:rPr lang="en-US" sz="1550" dirty="0">
                <a:solidFill>
                  <a:srgbClr val="3A3A3A"/>
                </a:solidFill>
                <a:latin typeface="Calibri" pitchFamily="34" charset="0"/>
                <a:ea typeface="Calibri" pitchFamily="34" charset="-122"/>
                <a:cs typeface="Calibri" pitchFamily="34" charset="-120"/>
              </a:rPr>
              <a:t>Outputting a Feature Importance matrix will mathematically confirm Healthcare Access is weighted heavier than Lead Concentration.</a:t>
            </a:r>
            <a:endParaRPr lang="en-US" sz="1550" dirty="0"/>
          </a:p>
        </p:txBody>
      </p:sp>
      <p:sp>
        <p:nvSpPr>
          <p:cNvPr id="12" name="Text 10"/>
          <p:cNvSpPr/>
          <p:nvPr/>
        </p:nvSpPr>
        <p:spPr>
          <a:xfrm>
            <a:off x="10698480" y="6355080"/>
            <a:ext cx="914400" cy="274320"/>
          </a:xfrm>
          <a:prstGeom prst="rect">
            <a:avLst/>
          </a:prstGeom>
          <a:noFill/>
          <a:ln/>
        </p:spPr>
        <p:txBody>
          <a:bodyPr wrap="square" lIns="0" tIns="0" rIns="0" bIns="0"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09 / 11</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685800"/>
            <a:ext cx="10789920" cy="822960"/>
          </a:xfrm>
          <a:prstGeom prst="rect">
            <a:avLst/>
          </a:prstGeom>
          <a:noFill/>
          <a:ln/>
        </p:spPr>
        <p:txBody>
          <a:bodyPr wrap="square" lIns="0" tIns="0" rIns="0" bIns="0" rtlCol="0" anchor="t"/>
          <a:lstStyle/>
          <a:p>
            <a:pPr algn="l" indent="0" marL="0">
              <a:buNone/>
            </a:pPr>
            <a:r>
              <a:rPr lang="en-US" sz="3200" b="1" dirty="0">
                <a:solidFill>
                  <a:srgbClr val="1B1B1B"/>
                </a:solidFill>
                <a:latin typeface="Cambria" pitchFamily="34" charset="0"/>
                <a:ea typeface="Cambria" pitchFamily="34" charset="-122"/>
                <a:cs typeface="Cambria" pitchFamily="34" charset="-120"/>
              </a:rPr>
              <a:t>Actionable Insights</a:t>
            </a:r>
            <a:endParaRPr lang="en-US" sz="3200" dirty="0"/>
          </a:p>
        </p:txBody>
      </p:sp>
      <p:sp>
        <p:nvSpPr>
          <p:cNvPr id="3" name="Shape 1"/>
          <p:cNvSpPr/>
          <p:nvPr/>
        </p:nvSpPr>
        <p:spPr>
          <a:xfrm>
            <a:off x="685800" y="1828800"/>
            <a:ext cx="10789920" cy="1325880"/>
          </a:xfrm>
          <a:prstGeom prst="roundRect">
            <a:avLst>
              <a:gd name="adj" fmla="val 6207"/>
            </a:avLst>
          </a:prstGeom>
          <a:solidFill>
            <a:srgbClr val="E3F2F1"/>
          </a:solidFill>
          <a:ln/>
          <a:effectLst>
            <a:outerShdw sx="100000" sy="100000" kx="0" ky="0" algn="bl" rotWithShape="0" blurRad="88900" dist="25400" dir="5400000">
              <a:srgbClr val="1B1B1B">
                <a:alpha val="10000"/>
              </a:srgbClr>
            </a:outerShdw>
          </a:effectLst>
        </p:spPr>
      </p:sp>
      <p:sp>
        <p:nvSpPr>
          <p:cNvPr id="4" name="Shape 2"/>
          <p:cNvSpPr/>
          <p:nvPr/>
        </p:nvSpPr>
        <p:spPr>
          <a:xfrm>
            <a:off x="978408" y="2208276"/>
            <a:ext cx="566928" cy="566928"/>
          </a:xfrm>
          <a:prstGeom prst="ellipse">
            <a:avLst/>
          </a:prstGeom>
          <a:solidFill>
            <a:srgbClr val="0E7C86"/>
          </a:solidFill>
          <a:ln/>
        </p:spPr>
      </p:sp>
      <p:sp>
        <p:nvSpPr>
          <p:cNvPr id="5" name="Text 3"/>
          <p:cNvSpPr/>
          <p:nvPr/>
        </p:nvSpPr>
        <p:spPr>
          <a:xfrm>
            <a:off x="978408" y="2208276"/>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01</a:t>
            </a:r>
            <a:endParaRPr lang="en-US" sz="1700" dirty="0"/>
          </a:p>
        </p:txBody>
      </p:sp>
      <p:sp>
        <p:nvSpPr>
          <p:cNvPr id="6" name="Text 4"/>
          <p:cNvSpPr/>
          <p:nvPr/>
        </p:nvSpPr>
        <p:spPr>
          <a:xfrm>
            <a:off x="1837944" y="1828800"/>
            <a:ext cx="9317736" cy="1325880"/>
          </a:xfrm>
          <a:prstGeom prst="rect">
            <a:avLst/>
          </a:prstGeom>
          <a:noFill/>
          <a:ln/>
        </p:spPr>
        <p:txBody>
          <a:bodyPr wrap="square" lIns="0" tIns="0" rIns="0" bIns="0" rtlCol="0" anchor="ctr"/>
          <a:lstStyle/>
          <a:p>
            <a:pPr algn="l" indent="0" marL="0">
              <a:lnSpc>
                <a:spcPct val="115000"/>
              </a:lnSpc>
              <a:buNone/>
            </a:pPr>
            <a:r>
              <a:rPr lang="en-US" sz="1550" b="1" dirty="0">
                <a:solidFill>
                  <a:srgbClr val="1B1B1B"/>
                </a:solidFill>
                <a:latin typeface="Calibri" pitchFamily="34" charset="0"/>
                <a:ea typeface="Calibri" pitchFamily="34" charset="-122"/>
                <a:cs typeface="Calibri" pitchFamily="34" charset="-120"/>
              </a:rPr>
              <a:t>Policy Focus:  </a:t>
            </a:r>
            <a:pPr algn="l" indent="0" marL="0">
              <a:lnSpc>
                <a:spcPct val="115000"/>
              </a:lnSpc>
              <a:buNone/>
            </a:pPr>
            <a:r>
              <a:rPr lang="en-US" sz="1550" dirty="0">
                <a:solidFill>
                  <a:srgbClr val="3A3A3A"/>
                </a:solidFill>
                <a:latin typeface="Calibri" pitchFamily="34" charset="0"/>
                <a:ea typeface="Calibri" pitchFamily="34" charset="-122"/>
                <a:cs typeface="Calibri" pitchFamily="34" charset="-120"/>
              </a:rPr>
              <a:t>Long-term infrastructure overhauls (water filtration) are critical but slow to implement globally.</a:t>
            </a:r>
            <a:endParaRPr lang="en-US" sz="1550" dirty="0"/>
          </a:p>
        </p:txBody>
      </p:sp>
      <p:sp>
        <p:nvSpPr>
          <p:cNvPr id="7" name="Shape 5"/>
          <p:cNvSpPr/>
          <p:nvPr/>
        </p:nvSpPr>
        <p:spPr>
          <a:xfrm>
            <a:off x="685800" y="3410712"/>
            <a:ext cx="10789920" cy="1325880"/>
          </a:xfrm>
          <a:prstGeom prst="roundRect">
            <a:avLst>
              <a:gd name="adj" fmla="val 6207"/>
            </a:avLst>
          </a:prstGeom>
          <a:solidFill>
            <a:srgbClr val="E7F6EC"/>
          </a:solidFill>
          <a:ln/>
          <a:effectLst>
            <a:outerShdw sx="100000" sy="100000" kx="0" ky="0" algn="bl" rotWithShape="0" blurRad="88900" dist="25400" dir="5400000">
              <a:srgbClr val="1B1B1B">
                <a:alpha val="10000"/>
              </a:srgbClr>
            </a:outerShdw>
          </a:effectLst>
        </p:spPr>
      </p:sp>
      <p:sp>
        <p:nvSpPr>
          <p:cNvPr id="8" name="Shape 6"/>
          <p:cNvSpPr/>
          <p:nvPr/>
        </p:nvSpPr>
        <p:spPr>
          <a:xfrm>
            <a:off x="978408" y="3790188"/>
            <a:ext cx="566928" cy="566928"/>
          </a:xfrm>
          <a:prstGeom prst="ellipse">
            <a:avLst/>
          </a:prstGeom>
          <a:solidFill>
            <a:srgbClr val="1E8449"/>
          </a:solidFill>
          <a:ln/>
        </p:spPr>
      </p:sp>
      <p:sp>
        <p:nvSpPr>
          <p:cNvPr id="9" name="Text 7"/>
          <p:cNvSpPr/>
          <p:nvPr/>
        </p:nvSpPr>
        <p:spPr>
          <a:xfrm>
            <a:off x="978408" y="3790188"/>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02</a:t>
            </a:r>
            <a:endParaRPr lang="en-US" sz="1700" dirty="0"/>
          </a:p>
        </p:txBody>
      </p:sp>
      <p:sp>
        <p:nvSpPr>
          <p:cNvPr id="10" name="Text 8"/>
          <p:cNvSpPr/>
          <p:nvPr/>
        </p:nvSpPr>
        <p:spPr>
          <a:xfrm>
            <a:off x="1837944" y="3410712"/>
            <a:ext cx="9317736" cy="1325880"/>
          </a:xfrm>
          <a:prstGeom prst="rect">
            <a:avLst/>
          </a:prstGeom>
          <a:noFill/>
          <a:ln/>
        </p:spPr>
        <p:txBody>
          <a:bodyPr wrap="square" lIns="0" tIns="0" rIns="0" bIns="0" rtlCol="0" anchor="ctr"/>
          <a:lstStyle/>
          <a:p>
            <a:pPr algn="l" indent="0" marL="0">
              <a:lnSpc>
                <a:spcPct val="115000"/>
              </a:lnSpc>
              <a:buNone/>
            </a:pPr>
            <a:r>
              <a:rPr lang="en-US" sz="1550" b="1" dirty="0">
                <a:solidFill>
                  <a:srgbClr val="1B1B1B"/>
                </a:solidFill>
                <a:latin typeface="Calibri" pitchFamily="34" charset="0"/>
                <a:ea typeface="Calibri" pitchFamily="34" charset="-122"/>
                <a:cs typeface="Calibri" pitchFamily="34" charset="-120"/>
              </a:rPr>
              <a:t>Capital Allocation:  </a:t>
            </a:r>
            <a:pPr algn="l" indent="0" marL="0">
              <a:lnSpc>
                <a:spcPct val="115000"/>
              </a:lnSpc>
              <a:buNone/>
            </a:pPr>
            <a:r>
              <a:rPr lang="en-US" sz="1550" dirty="0">
                <a:solidFill>
                  <a:srgbClr val="3A3A3A"/>
                </a:solidFill>
                <a:latin typeface="Calibri" pitchFamily="34" charset="0"/>
                <a:ea typeface="Calibri" pitchFamily="34" charset="-122"/>
                <a:cs typeface="Calibri" pitchFamily="34" charset="-120"/>
              </a:rPr>
              <a:t>Immediate capital must be directed toward emergency healthcare access and hospital infrastructure.</a:t>
            </a:r>
            <a:endParaRPr lang="en-US" sz="1550" dirty="0"/>
          </a:p>
        </p:txBody>
      </p:sp>
      <p:sp>
        <p:nvSpPr>
          <p:cNvPr id="11" name="Shape 9"/>
          <p:cNvSpPr/>
          <p:nvPr/>
        </p:nvSpPr>
        <p:spPr>
          <a:xfrm>
            <a:off x="685800" y="4992624"/>
            <a:ext cx="10789920" cy="1325880"/>
          </a:xfrm>
          <a:prstGeom prst="roundRect">
            <a:avLst>
              <a:gd name="adj" fmla="val 6207"/>
            </a:avLst>
          </a:prstGeom>
          <a:solidFill>
            <a:srgbClr val="FBF2DC"/>
          </a:solidFill>
          <a:ln/>
          <a:effectLst>
            <a:outerShdw sx="100000" sy="100000" kx="0" ky="0" algn="bl" rotWithShape="0" blurRad="88900" dist="25400" dir="5400000">
              <a:srgbClr val="1B1B1B">
                <a:alpha val="10000"/>
              </a:srgbClr>
            </a:outerShdw>
          </a:effectLst>
        </p:spPr>
      </p:sp>
      <p:sp>
        <p:nvSpPr>
          <p:cNvPr id="12" name="Shape 10"/>
          <p:cNvSpPr/>
          <p:nvPr/>
        </p:nvSpPr>
        <p:spPr>
          <a:xfrm>
            <a:off x="978408" y="5372100"/>
            <a:ext cx="566928" cy="566928"/>
          </a:xfrm>
          <a:prstGeom prst="ellipse">
            <a:avLst/>
          </a:prstGeom>
          <a:solidFill>
            <a:srgbClr val="B8860B"/>
          </a:solidFill>
          <a:ln/>
        </p:spPr>
      </p:sp>
      <p:sp>
        <p:nvSpPr>
          <p:cNvPr id="13" name="Text 11"/>
          <p:cNvSpPr/>
          <p:nvPr/>
        </p:nvSpPr>
        <p:spPr>
          <a:xfrm>
            <a:off x="978408" y="5372100"/>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03</a:t>
            </a:r>
            <a:endParaRPr lang="en-US" sz="1700" dirty="0"/>
          </a:p>
        </p:txBody>
      </p:sp>
      <p:sp>
        <p:nvSpPr>
          <p:cNvPr id="14" name="Text 12"/>
          <p:cNvSpPr/>
          <p:nvPr/>
        </p:nvSpPr>
        <p:spPr>
          <a:xfrm>
            <a:off x="1837944" y="4992624"/>
            <a:ext cx="9317736" cy="1325880"/>
          </a:xfrm>
          <a:prstGeom prst="rect">
            <a:avLst/>
          </a:prstGeom>
          <a:noFill/>
          <a:ln/>
        </p:spPr>
        <p:txBody>
          <a:bodyPr wrap="square" lIns="0" tIns="0" rIns="0" bIns="0" rtlCol="0" anchor="ctr"/>
          <a:lstStyle/>
          <a:p>
            <a:pPr algn="l" indent="0" marL="0">
              <a:lnSpc>
                <a:spcPct val="115000"/>
              </a:lnSpc>
              <a:buNone/>
            </a:pPr>
            <a:r>
              <a:rPr lang="en-US" sz="1550" b="1" dirty="0">
                <a:solidFill>
                  <a:srgbClr val="1B1B1B"/>
                </a:solidFill>
                <a:latin typeface="Calibri" pitchFamily="34" charset="0"/>
                <a:ea typeface="Calibri" pitchFamily="34" charset="-122"/>
                <a:cs typeface="Calibri" pitchFamily="34" charset="-120"/>
              </a:rPr>
              <a:t>The Bottom Line:  </a:t>
            </a:r>
            <a:pPr algn="l" indent="0" marL="0">
              <a:lnSpc>
                <a:spcPct val="115000"/>
              </a:lnSpc>
              <a:buNone/>
            </a:pPr>
            <a:r>
              <a:rPr lang="en-US" sz="1550" dirty="0">
                <a:solidFill>
                  <a:srgbClr val="3A3A3A"/>
                </a:solidFill>
                <a:latin typeface="Calibri" pitchFamily="34" charset="0"/>
                <a:ea typeface="Calibri" pitchFamily="34" charset="-122"/>
                <a:cs typeface="Calibri" pitchFamily="34" charset="-120"/>
              </a:rPr>
              <a:t>Improving medicine yields the fastest and most mathematically verifiable drop in mortality rates.</a:t>
            </a:r>
            <a:endParaRPr lang="en-US" sz="1550" dirty="0"/>
          </a:p>
        </p:txBody>
      </p:sp>
      <p:sp>
        <p:nvSpPr>
          <p:cNvPr id="15" name="Text 13"/>
          <p:cNvSpPr/>
          <p:nvPr/>
        </p:nvSpPr>
        <p:spPr>
          <a:xfrm>
            <a:off x="10698480" y="6355080"/>
            <a:ext cx="914400" cy="274320"/>
          </a:xfrm>
          <a:prstGeom prst="rect">
            <a:avLst/>
          </a:prstGeom>
          <a:noFill/>
          <a:ln/>
        </p:spPr>
        <p:txBody>
          <a:bodyPr wrap="square" lIns="0" tIns="0" rIns="0" bIns="0"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10 / 11</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4A57"/>
        </a:solidFill>
      </p:bgPr>
    </p:bg>
    <p:spTree>
      <p:nvGrpSpPr>
        <p:cNvPr id="1" name=""/>
        <p:cNvGrpSpPr/>
        <p:nvPr/>
      </p:nvGrpSpPr>
      <p:grpSpPr>
        <a:xfrm>
          <a:off x="0" y="0"/>
          <a:ext cx="0" cy="0"/>
          <a:chOff x="0" y="0"/>
          <a:chExt cx="0" cy="0"/>
        </a:xfrm>
      </p:grpSpPr>
      <p:sp>
        <p:nvSpPr>
          <p:cNvPr id="2" name="Text 0"/>
          <p:cNvSpPr/>
          <p:nvPr/>
        </p:nvSpPr>
        <p:spPr>
          <a:xfrm>
            <a:off x="1051560" y="2880360"/>
            <a:ext cx="10058400" cy="109728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3" name="Shape 1"/>
          <p:cNvSpPr/>
          <p:nvPr/>
        </p:nvSpPr>
        <p:spPr>
          <a:xfrm>
            <a:off x="5596128" y="3886200"/>
            <a:ext cx="128016" cy="128016"/>
          </a:xfrm>
          <a:prstGeom prst="ellipse">
            <a:avLst/>
          </a:prstGeom>
          <a:solidFill>
            <a:srgbClr val="A83232"/>
          </a:solidFill>
          <a:ln/>
        </p:spPr>
      </p:sp>
      <p:sp>
        <p:nvSpPr>
          <p:cNvPr id="4" name="Shape 2"/>
          <p:cNvSpPr/>
          <p:nvPr/>
        </p:nvSpPr>
        <p:spPr>
          <a:xfrm>
            <a:off x="6016752" y="3886200"/>
            <a:ext cx="128016" cy="128016"/>
          </a:xfrm>
          <a:prstGeom prst="ellipse">
            <a:avLst/>
          </a:prstGeom>
          <a:solidFill>
            <a:srgbClr val="0E7C86"/>
          </a:solidFill>
          <a:ln/>
        </p:spPr>
      </p:sp>
      <p:sp>
        <p:nvSpPr>
          <p:cNvPr id="5" name="Shape 3"/>
          <p:cNvSpPr/>
          <p:nvPr/>
        </p:nvSpPr>
        <p:spPr>
          <a:xfrm>
            <a:off x="6437376" y="3886200"/>
            <a:ext cx="128016" cy="128016"/>
          </a:xfrm>
          <a:prstGeom prst="ellipse">
            <a:avLst/>
          </a:prstGeom>
          <a:solidFill>
            <a:srgbClr val="1E8449"/>
          </a:solidFill>
          <a:ln/>
        </p:spPr>
      </p:sp>
      <p:sp>
        <p:nvSpPr>
          <p:cNvPr id="7" name="Text 4"/>
          <p:cNvSpPr/>
          <p:nvPr/>
        </p:nvSpPr>
        <p:spPr>
          <a:xfrm>
            <a:off x="10698480" y="6355080"/>
            <a:ext cx="914400" cy="274320"/>
          </a:xfrm>
          <a:prstGeom prst="rect">
            <a:avLst/>
          </a:prstGeom>
          <a:noFill/>
          <a:ln/>
        </p:spPr>
        <p:txBody>
          <a:bodyPr wrap="square" lIns="0" tIns="0" rIns="0" bIns="0" rtlCol="0" anchor="ctr"/>
          <a:lstStyle/>
          <a:p>
            <a:pPr algn="r" indent="0" marL="0">
              <a:buNone/>
            </a:pPr>
            <a:r>
              <a:rPr lang="en-US" sz="1000" dirty="0">
                <a:solidFill>
                  <a:srgbClr val="AFCBD1"/>
                </a:solidFill>
                <a:latin typeface="Calibri" pitchFamily="34" charset="0"/>
                <a:ea typeface="Calibri" pitchFamily="34" charset="-122"/>
                <a:cs typeface="Calibri" pitchFamily="34" charset="-120"/>
              </a:rPr>
              <a:t>11 / 11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Uncovering the Hidden Drivers of Global Infant Mortality</dc:title>
  <dc:subject>PptxGenJS Presentation</dc:subject>
  <dc:creator>Siddharth Singh</dc:creator>
  <cp:lastModifiedBy>Siddharth Singh</cp:lastModifiedBy>
  <cp:revision>1</cp:revision>
  <dcterms:created xsi:type="dcterms:W3CDTF">2026-07-03T06:38:20Z</dcterms:created>
  <dcterms:modified xsi:type="dcterms:W3CDTF">2026-07-03T06:38:20Z</dcterms:modified>
</cp:coreProperties>
</file>